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c289675a604143" /><Relationship Type="http://schemas.openxmlformats.org/officeDocument/2006/relationships/extended-properties" Target="/docProps/app.xml" Id="Rdd6eb53181bd49ac" /><Relationship Type="http://schemas.openxmlformats.org/officeDocument/2006/relationships/officeDocument" Target="/ppt/presentation.xml" Id="Rea43d602ae0742c6" /></Relationships>
</file>

<file path=ppt/presentation.xml><?xml version="1.0" encoding="utf-8"?>
<p:presentation xmlns:p="http://schemas.openxmlformats.org/presentationml/2006/main">
  <p:sldMasterIdLst>
    <p:sldMasterId xmlns:r="http://schemas.openxmlformats.org/officeDocument/2006/relationships" id="2147483648" r:id="R54a88df396cd4bdf"/>
  </p:sldMasterIdLst>
  <p:notesMasterIdLst>
    <p:notesMasterId xmlns:r="http://schemas.openxmlformats.org/officeDocument/2006/relationships" r:id="R1edeadcbf13d4e11"/>
  </p:notesMasterIdLst>
  <p:sldIdLst>
    <p:sldId xmlns:r="http://schemas.openxmlformats.org/officeDocument/2006/relationships" id="256" r:id="R3b01d6a37478415a"/>
    <p:sldId xmlns:r="http://schemas.openxmlformats.org/officeDocument/2006/relationships" id="257" r:id="Rc63939fc55734582"/>
    <p:sldId xmlns:r="http://schemas.openxmlformats.org/officeDocument/2006/relationships" id="258" r:id="R6bdce3c31b294195"/>
    <p:sldId xmlns:r="http://schemas.openxmlformats.org/officeDocument/2006/relationships" id="259" r:id="R165621ebaea84d56"/>
    <p:sldId xmlns:r="http://schemas.openxmlformats.org/officeDocument/2006/relationships" id="260" r:id="R94ddd627bdeb41a0"/>
    <p:sldId xmlns:r="http://schemas.openxmlformats.org/officeDocument/2006/relationships" id="261" r:id="R33e644755abb4dc2"/>
    <p:sldId xmlns:r="http://schemas.openxmlformats.org/officeDocument/2006/relationships" id="262" r:id="R2a1916fe356d4b52"/>
    <p:sldId xmlns:r="http://schemas.openxmlformats.org/officeDocument/2006/relationships" id="263" r:id="Rdcdecdd001424e1f"/>
    <p:sldId xmlns:r="http://schemas.openxmlformats.org/officeDocument/2006/relationships" id="264" r:id="R2332792da9b3453d"/>
    <p:sldId xmlns:r="http://schemas.openxmlformats.org/officeDocument/2006/relationships" id="265" r:id="Rce0bdc9537894afc"/>
    <p:sldId xmlns:r="http://schemas.openxmlformats.org/officeDocument/2006/relationships" id="266" r:id="R68453181dd0840a1"/>
    <p:sldId xmlns:r="http://schemas.openxmlformats.org/officeDocument/2006/relationships" id="267" r:id="R7c59c363859b4a6e"/>
    <p:sldId xmlns:r="http://schemas.openxmlformats.org/officeDocument/2006/relationships" id="268" r:id="Re7fbf0fde53242fd"/>
    <p:sldId xmlns:r="http://schemas.openxmlformats.org/officeDocument/2006/relationships" id="269" r:id="Rfc873c0af3284d2e"/>
    <p:sldId xmlns:r="http://schemas.openxmlformats.org/officeDocument/2006/relationships" id="270" r:id="Rd133cbb1dd174c80"/>
    <p:sldId xmlns:r="http://schemas.openxmlformats.org/officeDocument/2006/relationships" id="271" r:id="R32cbbb750be5464b"/>
    <p:sldId xmlns:r="http://schemas.openxmlformats.org/officeDocument/2006/relationships" id="272" r:id="R3985b8c2374140f6"/>
    <p:sldId xmlns:r="http://schemas.openxmlformats.org/officeDocument/2006/relationships" id="273" r:id="R83a1b1a2dbb94f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074b36de794af2" /><Relationship Type="http://schemas.openxmlformats.org/officeDocument/2006/relationships/slideMaster" Target="/ppt/slideMasters/slideMaster1.xml" Id="R54a88df396cd4bdf" /><Relationship Type="http://schemas.openxmlformats.org/officeDocument/2006/relationships/notesMaster" Target="/ppt/notesMasters/notesMaster1.xml" Id="R1edeadcbf13d4e11" /><Relationship Type="http://schemas.openxmlformats.org/officeDocument/2006/relationships/presProps" Target="/ppt/presProps.xml" Id="R4a43a81c879f4cd8" /><Relationship Type="http://schemas.openxmlformats.org/officeDocument/2006/relationships/tableStyles" Target="/ppt/tableStyles.xml" Id="R517a4681e6204840" /><Relationship Type="http://schemas.openxmlformats.org/officeDocument/2006/relationships/slide" Target="/ppt/slides/slide1.xml" Id="R3b01d6a37478415a" /><Relationship Type="http://schemas.openxmlformats.org/officeDocument/2006/relationships/slide" Target="/ppt/slides/slide2.xml" Id="Rc63939fc55734582" /><Relationship Type="http://schemas.openxmlformats.org/officeDocument/2006/relationships/slide" Target="/ppt/slides/slide3.xml" Id="R6bdce3c31b294195" /><Relationship Type="http://schemas.openxmlformats.org/officeDocument/2006/relationships/slide" Target="/ppt/slides/slide4.xml" Id="R165621ebaea84d56" /><Relationship Type="http://schemas.openxmlformats.org/officeDocument/2006/relationships/slide" Target="/ppt/slides/slide5.xml" Id="R94ddd627bdeb41a0" /><Relationship Type="http://schemas.openxmlformats.org/officeDocument/2006/relationships/slide" Target="/ppt/slides/slide6.xml" Id="R33e644755abb4dc2" /><Relationship Type="http://schemas.openxmlformats.org/officeDocument/2006/relationships/slide" Target="/ppt/slides/slide7.xml" Id="R2a1916fe356d4b52" /><Relationship Type="http://schemas.openxmlformats.org/officeDocument/2006/relationships/slide" Target="/ppt/slides/slide8.xml" Id="Rdcdecdd001424e1f" /><Relationship Type="http://schemas.openxmlformats.org/officeDocument/2006/relationships/slide" Target="/ppt/slides/slide9.xml" Id="R2332792da9b3453d" /><Relationship Type="http://schemas.openxmlformats.org/officeDocument/2006/relationships/slide" Target="/ppt/slides/slide10.xml" Id="Rce0bdc9537894afc" /><Relationship Type="http://schemas.openxmlformats.org/officeDocument/2006/relationships/slide" Target="/ppt/slides/slide11.xml" Id="R68453181dd0840a1" /><Relationship Type="http://schemas.openxmlformats.org/officeDocument/2006/relationships/slide" Target="/ppt/slides/slide12.xml" Id="R7c59c363859b4a6e" /><Relationship Type="http://schemas.openxmlformats.org/officeDocument/2006/relationships/slide" Target="/ppt/slides/slide13.xml" Id="Re7fbf0fde53242fd" /><Relationship Type="http://schemas.openxmlformats.org/officeDocument/2006/relationships/slide" Target="/ppt/slides/slide14.xml" Id="Rfc873c0af3284d2e" /><Relationship Type="http://schemas.openxmlformats.org/officeDocument/2006/relationships/slide" Target="/ppt/slides/slide15.xml" Id="Rd133cbb1dd174c80" /><Relationship Type="http://schemas.openxmlformats.org/officeDocument/2006/relationships/slide" Target="/ppt/slides/slide16.xml" Id="R32cbbb750be5464b" /><Relationship Type="http://schemas.openxmlformats.org/officeDocument/2006/relationships/slide" Target="/ppt/slides/slide17.xml" Id="R3985b8c2374140f6" /><Relationship Type="http://schemas.openxmlformats.org/officeDocument/2006/relationships/slide" Target="/ppt/slides/slide18.xml" Id="R83a1b1a2dbb94f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959dcc348648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0039d11ccb4055" /><Relationship Type="http://schemas.openxmlformats.org/officeDocument/2006/relationships/notesMaster" Target="/ppt/notesMasters/notesMaster1.xml" Id="R161032e8887849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6a3818766c4a23" /><Relationship Type="http://schemas.openxmlformats.org/officeDocument/2006/relationships/notesMaster" Target="/ppt/notesMasters/notesMaster1.xml" Id="Ref7adb664def43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70bfdb72a24a87" /><Relationship Type="http://schemas.openxmlformats.org/officeDocument/2006/relationships/notesMaster" Target="/ppt/notesMasters/notesMaster1.xml" Id="R08cd3598c02d44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7d74b48f564615" /><Relationship Type="http://schemas.openxmlformats.org/officeDocument/2006/relationships/notesMaster" Target="/ppt/notesMasters/notesMaster1.xml" Id="R0ab505d247a14a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55a1d92c2c409c" /><Relationship Type="http://schemas.openxmlformats.org/officeDocument/2006/relationships/notesMaster" Target="/ppt/notesMasters/notesMaster1.xml" Id="R9c01b99e9c4448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b03f91add84c75" /><Relationship Type="http://schemas.openxmlformats.org/officeDocument/2006/relationships/notesMaster" Target="/ppt/notesMasters/notesMaster1.xml" Id="Rcff8a52eb03c41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6e96f76832452e" /><Relationship Type="http://schemas.openxmlformats.org/officeDocument/2006/relationships/notesMaster" Target="/ppt/notesMasters/notesMaster1.xml" Id="R46dd8b32706c4a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a69dcd1c7d45e2" /><Relationship Type="http://schemas.openxmlformats.org/officeDocument/2006/relationships/notesMaster" Target="/ppt/notesMasters/notesMaster1.xml" Id="R8bf0784bc7d54d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5f43bf959445e6" /><Relationship Type="http://schemas.openxmlformats.org/officeDocument/2006/relationships/notesMaster" Target="/ppt/notesMasters/notesMaster1.xml" Id="R19442fdecd7a41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95671d0bf54c8c" /><Relationship Type="http://schemas.openxmlformats.org/officeDocument/2006/relationships/notesMaster" Target="/ppt/notesMasters/notesMaster1.xml" Id="R8fe5138532a844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2d7bb8fc4bd47fa" /><Relationship Type="http://schemas.openxmlformats.org/officeDocument/2006/relationships/notesMaster" Target="/ppt/notesMasters/notesMaster1.xml" Id="R2f62cb960fe449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bcdf24be5f493c" /><Relationship Type="http://schemas.openxmlformats.org/officeDocument/2006/relationships/notesMaster" Target="/ppt/notesMasters/notesMaster1.xml" Id="Rcd0584c0ae8446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5b3d62ecac4c38" /><Relationship Type="http://schemas.openxmlformats.org/officeDocument/2006/relationships/notesMaster" Target="/ppt/notesMasters/notesMaster1.xml" Id="R7637402c50e744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ee97a2fe48405d" /><Relationship Type="http://schemas.openxmlformats.org/officeDocument/2006/relationships/notesMaster" Target="/ppt/notesMasters/notesMaster1.xml" Id="R24d5dea09c674f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cf394d066d410b" /><Relationship Type="http://schemas.openxmlformats.org/officeDocument/2006/relationships/notesMaster" Target="/ppt/notesMasters/notesMaster1.xml" Id="R5e0b6f595e404b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39b31f22404909" /><Relationship Type="http://schemas.openxmlformats.org/officeDocument/2006/relationships/notesMaster" Target="/ppt/notesMasters/notesMaster1.xml" Id="R1fe9472bd6b84e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764251d6514031" /><Relationship Type="http://schemas.openxmlformats.org/officeDocument/2006/relationships/notesMaster" Target="/ppt/notesMasters/notesMaster1.xml" Id="R94543bec0a4e48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b9dd9fa117469c" /><Relationship Type="http://schemas.openxmlformats.org/officeDocument/2006/relationships/notesMaster" Target="/ppt/notesMasters/notesMaster1.xml" Id="Rf6862b5202a945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25 giây.</a:t>
            </a:r>
          </a:p>
          <a:p xmlns:a="http://schemas.openxmlformats.org/drawingml/2006/main">
            <a:r>
              <a:t/>
            </a:r>
          </a:p>
          <a:p xmlns:a="http://schemas.openxmlformats.org/drawingml/2006/main">
            <a:r>
              <a:t>Em chào thầy. Nhóm chúng em gồm Nguyễn Ngọc Minh, Nguyễn Huy Nhật và Nguyễn Trung Kiên. Đồ án đánh giá VPC Peering và Transit Gateway trên AWS, đồng thời xem khả năng phục vụ của ứng dụng ảnh hưởng thế nào đến chất lượng dịch vụ. Chúng em trình bày kiến trúc, kết quả đo và cách dùng định luật Little để giải thích hàng đợi.</a:t>
            </a:r>
          </a:p>
          <a:p xmlns:a="http://schemas.openxmlformats.org/drawingml/2006/main">
            <a:r>
              <a:t/>
            </a:r>
          </a:p>
          <a:p xmlns:a="http://schemas.openxmlformats.org/drawingml/2006/main">
            <a:r>
              <a:t>Nguồn:</a:t>
            </a:r>
          </a:p>
          <a:p xmlns:a="http://schemas.openxmlformats.org/drawingml/2006/main">
            <a:r>
              <a:t>docs/34-bao-cao-tong-hop.md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40 giây.</a:t>
            </a:r>
          </a:p>
          <a:p xmlns:a="http://schemas.openxmlformats.org/drawingml/2006/main">
            <a:r>
              <a:t/>
            </a:r>
          </a:p>
          <a:p xmlns:a="http://schemas.openxmlformats.org/drawingml/2006/main">
            <a:r>
              <a:t>Ban đầu nhóm muốn biết Peering hay Transit Gateway có hiệu năng tốt hơn. Nhưng một câu trả lời chung như vậy dễ bỏ qua ứng dụng. Vì vậy nhóm tách thành hai câu hỏi cụ thể. Thứ nhất, trên cùng cặp máy, RTT khác nhau bao nhiêu khi đổi đường mạng? Thứ hai, khi ứng dụng gần công suất phục vụ, giảm độ trễ mạng hay tăng khả năng xử lý sẽ cải thiện deadline rõ hơn? Hai câu hỏi dẫn đến hai nhóm thí nghiệm, đo mạng và can thiệp slots tại worker.</a:t>
            </a:r>
          </a:p>
          <a:p xmlns:a="http://schemas.openxmlformats.org/drawingml/2006/main">
            <a:r>
              <a:t/>
            </a:r>
          </a:p>
          <a:p xmlns:a="http://schemas.openxmlformats.org/drawingml/2006/main">
            <a:r>
              <a:t>Nguồn:</a:t>
            </a:r>
          </a:p>
          <a:p xmlns:a="http://schemas.openxmlformats.org/drawingml/2006/main">
            <a:r>
              <a:t>docs/34-bao-cao-tong-hop.md</a:t>
            </a:r>
          </a:p>
          <a:p xmlns:a="http://schemas.openxmlformats.org/drawingml/2006/main">
            <a:r>
              <a:t>docs/35-pham-vi-rut-gon-va-ket-luan.md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50 giây.</a:t>
            </a:r>
          </a:p>
          <a:p xmlns:a="http://schemas.openxmlformats.org/drawingml/2006/main">
            <a:r>
              <a:t/>
            </a:r>
          </a:p>
          <a:p xmlns:a="http://schemas.openxmlformats.org/drawingml/2006/main">
            <a:r>
              <a:t>Mỗi VPC có một EC2. Để bốn VPC liên lạc trực tiếp với nhau bằng Peering, nhóm tạo sáu kết nối cặp. Với Transit Gateway, bốn VPC gắn vào một hub bằng bốn attachment. Hai cách đều phục vụ cùng tập máy và cùng các chiều liên lạc. Khi đo, nhóm đổi đích route sang Peering hoặc TGW, không thay loại EC2. Lưu lượng đo dùng IP private. Elastic IP chỉ giúp nhóm SSH từ máy cá nhân, nên không nằm trên đường truyền benchmark.</a:t>
            </a:r>
          </a:p>
          <a:p xmlns:a="http://schemas.openxmlformats.org/drawingml/2006/main">
            <a:r>
              <a:t/>
            </a:r>
          </a:p>
          <a:p xmlns:a="http://schemas.openxmlformats.org/drawingml/2006/main">
            <a:r>
              <a:t>Nguồn:</a:t>
            </a:r>
          </a:p>
          <a:p xmlns:a="http://schemas.openxmlformats.org/drawingml/2006/main">
            <a:r>
              <a:t>infra/terraform/full-mesh.tf</a:t>
            </a:r>
          </a:p>
          <a:p xmlns:a="http://schemas.openxmlformats.org/drawingml/2006/main">
            <a:r>
              <a:t>infra/terraform/transit-gateway.tf</a:t>
            </a:r>
          </a:p>
          <a:p xmlns:a="http://schemas.openxmlformats.org/drawingml/2006/main">
            <a:r>
              <a:t>https://docs.aws.amazon.com/vpc/latest/peering/what-is-vpc-peering.html</a:t>
            </a:r>
          </a:p>
          <a:p xmlns:a="http://schemas.openxmlformats.org/drawingml/2006/main">
            <a:r>
              <a:t>https://docs.aws.amazon.com/vpc/latest/tgw/what-is-transit-gateway.html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50 giây.</a:t>
            </a:r>
          </a:p>
          <a:p xmlns:a="http://schemas.openxmlformats.org/drawingml/2006/main">
            <a:r>
              <a:t/>
            </a:r>
          </a:p>
          <a:p xmlns:a="http://schemas.openxmlformats.org/drawingml/2006/main">
            <a:r>
              <a:t>Máy A tạo tải theo lịch và gửi HTTP đến gateway B. B gọi C và D song song, chờ cả hai kết quả rồi trả về A. Mỗi worker có hàng đợi trước một bộ slots. Một slot cho phép một lời gọi đang phục vụ, không phải một vCPU. Phần phục vụ mô phỏng chờ I/O mười mili giây và trả bốn KiB. Ở mức tám trăm yêu cầu mỗi giây tại A, mỗi worker nhận khoảng tám trăm lời gọi mỗi giây. Tổng C và D mới là một nghìn sáu trăm, không được nhầm thành tải trên từng worker.</a:t>
            </a:r>
          </a:p>
          <a:p xmlns:a="http://schemas.openxmlformats.org/drawingml/2006/main">
            <a:r>
              <a:t/>
            </a:r>
          </a:p>
          <a:p xmlns:a="http://schemas.openxmlformats.org/drawingml/2006/main">
            <a:r>
              <a:t>Nguồn:</a:t>
            </a:r>
          </a:p>
          <a:p xmlns:a="http://schemas.openxmlformats.org/drawingml/2006/main">
            <a:r>
              <a:t>experiments/application-qos/app.py</a:t>
            </a:r>
          </a:p>
          <a:p xmlns:a="http://schemas.openxmlformats.org/drawingml/2006/main">
            <a:r>
              <a:t>results/application-slots-confirmation-v1/protocol.json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50 giây.</a:t>
            </a:r>
          </a:p>
          <a:p xmlns:a="http://schemas.openxmlformats.org/drawingml/2006/main">
            <a:r>
              <a:t/>
            </a:r>
          </a:p>
          <a:p xmlns:a="http://schemas.openxmlformats.org/drawingml/2006/main">
            <a:r>
              <a:t>Nhóm giữ cùng loại c6i.large, cùng Availability Zone us-east-1a và MTU một nghìn năm trăm. Đợt RTT có năm block, mỗi block chứa cả hai mode và mỗi mode có ba lượt, mỗi lượt một trăm gói. Đợt ứng dụng có ba block. Mỗi block thử đủ hai đường mạng, hai mức slots và hai mức tải, tức tám điều kiện. Nhóm đổi thứ tự các điều kiện theo lịch đã khóa. Kế hoạch xác nhận ban đầu là mười sáu block nhưng đã rút gọn vì ngân sách. Vì vậy kết quả hôm nay là thống kê mô tả, không trình bày p-value xác nhận.</a:t>
            </a:r>
          </a:p>
          <a:p xmlns:a="http://schemas.openxmlformats.org/drawingml/2006/main">
            <a:r>
              <a:t/>
            </a:r>
          </a:p>
          <a:p xmlns:a="http://schemas.openxmlformats.org/drawingml/2006/main">
            <a:r>
              <a:t>Nguồn:</a:t>
            </a:r>
          </a:p>
          <a:p xmlns:a="http://schemas.openxmlformats.org/drawingml/2006/main">
            <a:r>
              <a:t>results/confirmation-rtt-v1/protocol.json</a:t>
            </a:r>
          </a:p>
          <a:p xmlns:a="http://schemas.openxmlformats.org/drawingml/2006/main">
            <a:r>
              <a:t>results/application-slots-confirmation-v1/protocol.json</a:t>
            </a:r>
          </a:p>
          <a:p xmlns:a="http://schemas.openxmlformats.org/drawingml/2006/main">
            <a:r>
              <a:t>results/study-scope-decision-20261013.json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55 giây.</a:t>
            </a:r>
          </a:p>
          <a:p xmlns:a="http://schemas.openxmlformats.org/drawingml/2006/main">
            <a:r>
              <a:t/>
            </a:r>
          </a:p>
          <a:p xmlns:a="http://schemas.openxmlformats.org/drawingml/2006/main">
            <a:r>
              <a:t>RTT là thời gian gói đi đến đích và phản hồi về máy gửi, đơn vị mili giây. Với ứng dụng, nhóm dùng P95 để nhìn các yêu cầu chậm, thay vì chỉ nhìn trung bình. Nhóm sắp độ trễ tăng dần và lấy vị trí làm tròn lên của không phẩy chín mươi lăm nhân số mẫu. SLI đúng hạn là số yêu cầu thành công trong năm mươi mili giây chia toàn bộ yêu cầu theo lịch. Năm mươi mili giây là ngưỡng thí nghiệm của nhóm. Yêu cầu HTTP thành công nhưng trả chậm vẫn không đạt deadline. P95 chỉ dùng các yêu cầu hoàn thành thành công, còn mẫu số SLI vẫn gồm cả lỗi và trễ.</a:t>
            </a:r>
          </a:p>
          <a:p xmlns:a="http://schemas.openxmlformats.org/drawingml/2006/main">
            <a:r>
              <a:t/>
            </a:r>
          </a:p>
          <a:p xmlns:a="http://schemas.openxmlformats.org/drawingml/2006/main">
            <a:r>
              <a:t>Nguồn:</a:t>
            </a:r>
          </a:p>
          <a:p xmlns:a="http://schemas.openxmlformats.org/drawingml/2006/main">
            <a:r>
              <a:t>docs/36-cong-thuc-bam-bai-giang.md</a:t>
            </a:r>
          </a:p>
          <a:p xmlns:a="http://schemas.openxmlformats.org/drawingml/2006/main">
            <a:r>
              <a:t>NT531 - Internet Performance, QoS and Cloud-Native Metrics.pdf, trang PDF 4, 26, 41–42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50 giây.</a:t>
            </a:r>
          </a:p>
          <a:p xmlns:a="http://schemas.openxmlformats.org/drawingml/2006/main">
            <a:r>
              <a:t/>
            </a:r>
          </a:p>
          <a:p xmlns:a="http://schemas.openxmlformats.org/drawingml/2006/main">
            <a:r>
              <a:t>Biểu đồ cho thấy RTT trung bình của hai mode trong từng block. Để so sánh, nhóm lấy TGW trừ Peering trong cùng block. Cả năm chênh lệch đều dương, với trung bình khoảng không phẩy ba một hai mili giây và khoảng từng block từ không phẩy hai ba không đến không phẩy bốn hai sáu. Không ghi nhận thiếu phản hồi trong ba nghìn probe được phân tích. Kết luận là Peering có RTT thấp hơn trong cấu hình và những block này. Nhóm không gọi phần chênh lệch là thời gian xử lý nội bộ của TGW, vì RTT còn gồm endpoint và toàn bộ đường đi.</a:t>
            </a:r>
          </a:p>
          <a:p xmlns:a="http://schemas.openxmlformats.org/drawingml/2006/main">
            <a:r>
              <a:t/>
            </a:r>
          </a:p>
          <a:p xmlns:a="http://schemas.openxmlformats.org/drawingml/2006/main">
            <a:r>
              <a:t>Nguồn:</a:t>
            </a:r>
          </a:p>
          <a:p xmlns:a="http://schemas.openxmlformats.org/drawingml/2006/main">
            <a:r>
              <a:t>results/confirmation-rtt-v1/analysis.json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55 giây.</a:t>
            </a:r>
          </a:p>
          <a:p xmlns:a="http://schemas.openxmlformats.org/drawingml/2006/main">
            <a:r>
              <a:t/>
            </a:r>
          </a:p>
          <a:p xmlns:a="http://schemas.openxmlformats.org/drawingml/2006/main">
            <a:r>
              <a:t>Đây là kết quả tại tám trăm yêu cầu mỗi giây, tổng hợp ba block. Khi chỉ có tám slots, tỷ lệ đúng hạn khoảng ba phẩy không bốn phần trăm qua Peering và ba phẩy hai bảy phần trăm qua TGW. Khi tăng lên mười sáu slots, cả hai mode đạt đủ ba mươi sáu nghìn yêu cầu đúng hạn trên ba mươi sáu nghìn yêu cầu theo lịch. Hiệu ứng tăng slots, tính trong cùng block và mode rồi trung bình, là chín mươi sáu phẩy tám bốn điểm phần trăm. Đây là điểm phần trăm, không phải phần trăm tăng tốc. Một trăm phần trăm trong cửa sổ đo cũng không bảo đảm mọi phiên tương lai đều như vậy.</a:t>
            </a:r>
          </a:p>
          <a:p xmlns:a="http://schemas.openxmlformats.org/drawingml/2006/main">
            <a:r>
              <a:t/>
            </a:r>
          </a:p>
          <a:p xmlns:a="http://schemas.openxmlformats.org/drawingml/2006/main">
            <a:r>
              <a:t>Nguồn:</a:t>
            </a:r>
          </a:p>
          <a:p xmlns:a="http://schemas.openxmlformats.org/drawingml/2006/main">
            <a:r>
              <a:t>results/analysis/reduced-study-summary.json</a:t>
            </a:r>
          </a:p>
          <a:p xmlns:a="http://schemas.openxmlformats.org/drawingml/2006/main">
            <a:r>
              <a:t>results/application-slots-confirmation-v1/analysis.json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40 giây.</a:t>
            </a:r>
          </a:p>
          <a:p xmlns:a="http://schemas.openxmlformats.org/drawingml/2006/main">
            <a:r>
              <a:t/>
            </a:r>
          </a:p>
          <a:p xmlns:a="http://schemas.openxmlformats.org/drawingml/2006/main">
            <a:r>
              <a:t>Bảng này bổ sung ý nghĩa cho tỷ lệ deadline. Qua Peering, tám slots có P95 khoảng một phẩy ba năm đến một phẩy năm giây, còn mười sáu slots chỉ khoảng mười hai phẩy bảy mili giây. TGW có cùng hiện tượng tăng mạnh ở tám slots và giảm về khoảng mười ba mili giây ở mười sáu slots. Các khoảng là giá trị nhỏ nhất và lớn nhất của P95 từng block, không phải khoảng tin cậy. Tại sáu trăm yêu cầu mỗi giây, cả bốn điều kiện đều đạt một trăm phần trăm đúng hạn trong dữ liệu đã đo.</a:t>
            </a:r>
          </a:p>
          <a:p xmlns:a="http://schemas.openxmlformats.org/drawingml/2006/main">
            <a:r>
              <a:t/>
            </a:r>
          </a:p>
          <a:p xmlns:a="http://schemas.openxmlformats.org/drawingml/2006/main">
            <a:r>
              <a:t>Nguồn:</a:t>
            </a:r>
          </a:p>
          <a:p xmlns:a="http://schemas.openxmlformats.org/drawingml/2006/main">
            <a:r>
              <a:t>results/analysis/reduced-study-summary.json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65 giây.</a:t>
            </a:r>
          </a:p>
          <a:p xmlns:a="http://schemas.openxmlformats.org/drawingml/2006/main">
            <a:r>
              <a:t/>
            </a:r>
          </a:p>
          <a:p xmlns:a="http://schemas.openxmlformats.org/drawingml/2006/main">
            <a:r>
              <a:t>Định luật Little trong bài giảng liên hệ số công việc trung bình, tốc độ và thời gian. Với phần hàng đợi, nhóm viết L q bằng lambda nhân W q. L q là số lời gọi chờ trung bình, lambda là lời gọi mỗi giây và W q là thời gian chờ trung bình tính bằng giây. Ví dụ worker C, Peering, tám slots, block ba: bảy trăm ba mươi hai phẩy hai tám bảy nhân không phẩy bảy không không chín năm một cho khoảng năm trăm mười ba phẩy hai chín bảy lời gọi chờ. Tốc độ này tính trên cửa sổ chứa trọn nhóm lời gọi và đuôi xử lý, nên khác tám trăm cấu hình. Hai vế cùng lấy từ log để kiểm tra nhất quán, không phải một kiểm định thống kê độc lập.</a:t>
            </a:r>
          </a:p>
          <a:p xmlns:a="http://schemas.openxmlformats.org/drawingml/2006/main">
            <a:r>
              <a:t/>
            </a:r>
          </a:p>
          <a:p xmlns:a="http://schemas.openxmlformats.org/drawingml/2006/main">
            <a:r>
              <a:t>Nguồn:</a:t>
            </a:r>
          </a:p>
          <a:p xmlns:a="http://schemas.openxmlformats.org/drawingml/2006/main">
            <a:r>
              <a:t>results/analysis/queue-occupancy-audit.json</a:t>
            </a:r>
          </a:p>
          <a:p xmlns:a="http://schemas.openxmlformats.org/drawingml/2006/main">
            <a:r>
              <a:t>docs/36-cong-thuc-bam-bai-giang.md</a:t>
            </a:r>
          </a:p>
          <a:p xmlns:a="http://schemas.openxmlformats.org/drawingml/2006/main">
            <a:r>
              <a:t>NT531 - Lecture 02 - Arrival Processes and Queuing Systems.pdf, trang PDF 62–66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45 giây.</a:t>
            </a:r>
          </a:p>
          <a:p xmlns:a="http://schemas.openxmlformats.org/drawingml/2006/main">
            <a:r>
              <a:t/>
            </a:r>
          </a:p>
          <a:p xmlns:a="http://schemas.openxmlformats.org/drawingml/2006/main">
            <a:r>
              <a:t>Nhóm dùng một ước lượng đơn giản để đọc cơ chế. Nếu M slots và mỗi lời gọi giữ slot s giây, công suất danh nghĩa là M chia s. Với tám slots và mười mili giây, công suất là tám trăm lời gọi mỗi giây. Tải tám trăm vì thế gần công suất danh nghĩa, ít dư địa cho overhead. Mười sáu slots cho công suất danh nghĩa một nghìn sáu trăm, tức mức tải chỉ bằng một nửa. Đây là mô hình slots và I/O giả lập, không phải giới hạn AWS, không phải phần trăm CPU, và nhóm không giả định traffic Poisson để dùng công thức M/M/1.</a:t>
            </a:r>
          </a:p>
          <a:p xmlns:a="http://schemas.openxmlformats.org/drawingml/2006/main">
            <a:r>
              <a:t/>
            </a:r>
          </a:p>
          <a:p xmlns:a="http://schemas.openxmlformats.org/drawingml/2006/main">
            <a:r>
              <a:t>Nguồn:</a:t>
            </a:r>
          </a:p>
          <a:p xmlns:a="http://schemas.openxmlformats.org/drawingml/2006/main">
            <a:r>
              <a:t>docs/36-cong-thuc-bam-bai-giang.md</a:t>
            </a:r>
          </a:p>
          <a:p xmlns:a="http://schemas.openxmlformats.org/drawingml/2006/main">
            <a:r>
              <a:t>NT531 - Lecture 02 - Arrival Processes and Queuing Systems.pdf, trang PDF 3, 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45 giây.</a:t>
            </a:r>
          </a:p>
          <a:p xmlns:a="http://schemas.openxmlformats.org/drawingml/2006/main">
            <a:r>
              <a:t/>
            </a:r>
          </a:p>
          <a:p xmlns:a="http://schemas.openxmlformats.org/drawingml/2006/main">
            <a:r>
              <a:t>Nhóm giữ trace của hai phiên smoke thật, tổng cộng mười hai trace và một trăm hai mươi span. Collector nhận trace, Tempo lưu và Grafana hiển thị. Ảnh cho thấy một yêu cầu có mười span, tổng khoảng mười hai phẩy ba mili giây. Hai nhánh gọi C và D chồng thời gian nhau, thể hiện chạy song song. Worker queue khoảng mười ba đến mười bốn micro giây trong yêu cầu tải nhẹ này. Đây là trace nhập lại giữ nguyên ID và thời gian, không phải trace của phiên tám trăm rps. Log của thí nghiệm chính mới giải thích backlog khi tải, còn trace giúp hiểu luồng dịch vụ.</a:t>
            </a:r>
          </a:p>
          <a:p xmlns:a="http://schemas.openxmlformats.org/drawingml/2006/main">
            <a:r>
              <a:t/>
            </a:r>
          </a:p>
          <a:p xmlns:a="http://schemas.openxmlformats.org/drawingml/2006/main">
            <a:r>
              <a:t>Nguồn:</a:t>
            </a:r>
          </a:p>
          <a:p xmlns:a="http://schemas.openxmlformats.org/drawingml/2006/main">
            <a:r>
              <a:t>docs/images/application/grafana-demo/ui-verification.json</a:t>
            </a:r>
          </a:p>
          <a:p xmlns:a="http://schemas.openxmlformats.org/drawingml/2006/main">
            <a:r>
              <a:t>results/observability-demo/current-demo.json</a:t>
            </a:r>
          </a:p>
          <a:p xmlns:a="http://schemas.openxmlformats.org/drawingml/2006/main">
            <a:r>
              <a:t>NT531 - Internet Performance, QoS and Cloud-Native Metrics.pdf, trang PDF 31, 34,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55 giây.</a:t>
            </a:r>
          </a:p>
          <a:p xmlns:a="http://schemas.openxmlformats.org/drawingml/2006/main">
            <a:r>
              <a:t/>
            </a:r>
          </a:p>
          <a:p xmlns:a="http://schemas.openxmlformats.org/drawingml/2006/main">
            <a:r>
              <a:t>Hai phương án có ưu điểm ở những khía cạnh khác nhau. Trong phép đo của nhóm, Peering có RTT thấp hơn. Với topology cần kết nối nhiều VPC, TGW cung cấp hub và quản lý định tuyến tập trung, nhưng nhóm chưa đo công sức quản trị để lượng hóa lợi ích đó. Với bốn VPC, Peering full mesh cần sáu kết nối, TGW cần bốn attachment. Kết quả ứng dụng cho thấy ở tám trăm rps, đổi đường mạng vẫn không giải quyết deadline thấp khi worker có tám slots. Tăng khả năng phục vụ mới tạo cải thiện lớn trong workload này. Kết luận có cấu hình và điều kiện rõ ràng, không suy thành một phương án thắng mọi hệ thống.</a:t>
            </a:r>
          </a:p>
          <a:p xmlns:a="http://schemas.openxmlformats.org/drawingml/2006/main">
            <a:r>
              <a:t/>
            </a:r>
          </a:p>
          <a:p xmlns:a="http://schemas.openxmlformats.org/drawingml/2006/main">
            <a:r>
              <a:t>Nguồn:</a:t>
            </a:r>
          </a:p>
          <a:p xmlns:a="http://schemas.openxmlformats.org/drawingml/2006/main">
            <a:r>
              <a:t>docs/35-pham-vi-rut-gon-va-ket-luan.md</a:t>
            </a:r>
          </a:p>
          <a:p xmlns:a="http://schemas.openxmlformats.org/drawingml/2006/main">
            <a:r>
              <a:t>https://docs.aws.amazon.com/vpc/latest/peering/what-is-vpc-peering.html</a:t>
            </a:r>
          </a:p>
          <a:p xmlns:a="http://schemas.openxmlformats.org/drawingml/2006/main">
            <a:r>
              <a:t>https://docs.aws.amazon.com/vpc/latest/tgw/what-is-transit-gateway.html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35 giây.</a:t>
            </a:r>
          </a:p>
          <a:p xmlns:a="http://schemas.openxmlformats.org/drawingml/2006/main">
            <a:r>
              <a:t/>
            </a:r>
          </a:p>
          <a:p xmlns:a="http://schemas.openxmlformats.org/drawingml/2006/main">
            <a:r>
              <a:t>Đóng góp của nhóm là một quy trình so sánh trên cùng hạ tầng, có can thiệp slots để làm rõ điểm nghẽn ứng dụng, và có log hàng đợi kiểm tra bằng Little. Raw, code, số liệu tổng hợp và các bước demo đã lưu trong repository. Trong video, nhóm sẽ cho thấy bốn máy, route hoặc kết quả đo đã lưu, rồi mở một trace trên Grafana. Dữ liệu lịch sử được ghi rõ là kết quả đã đo. Nhóm không cần đo lại toàn bộ chỉ để quay màn hình. Em cảm ơn thầy và xin nhận câu hỏi.</a:t>
            </a:r>
          </a:p>
          <a:p xmlns:a="http://schemas.openxmlformats.org/drawingml/2006/main">
            <a:r>
              <a:t/>
            </a:r>
          </a:p>
          <a:p xmlns:a="http://schemas.openxmlformats.org/drawingml/2006/main">
            <a:r>
              <a:t>Nguồn:</a:t>
            </a:r>
          </a:p>
          <a:p xmlns:a="http://schemas.openxmlformats.org/drawingml/2006/main">
            <a:r>
              <a:t>docs/34-bao-cao-tong-hop.md</a:t>
            </a:r>
          </a:p>
          <a:p xmlns:a="http://schemas.openxmlformats.org/drawingml/2006/main">
            <a:r>
              <a:t>docs/37-quay-video-va-grafana.md</a:t>
            </a:r>
          </a:p>
          <a:p xmlns:a="http://schemas.openxmlformats.org/drawingml/2006/main">
            <a:r>
              <a:t>https://github.com/Jonnysilverfang/NT531/tree/minh-work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chỉ mở khi cần.</a:t>
            </a:r>
          </a:p>
          <a:p xmlns:a="http://schemas.openxmlformats.org/drawingml/2006/main">
            <a:r>
              <a:t/>
            </a:r>
          </a:p>
          <a:p xmlns:a="http://schemas.openxmlformats.org/drawingml/2006/main">
            <a:r>
              <a:t>Nếu thầy hỏi phần TCP: mỗi bộ lịch sử có năm lượt. TCP một luồng phía nhận trung bình khoảng bốn phẩy bảy tám ba Gbps qua Peering và bốn phẩy sáu không tám qua TGW. Tổng fan-in ba nguồn về B khoảng mười một phẩy sáu một một và mười một phẩy năm chín một Gbps, là tổng xấp xỉ các trung bình luồng. Hai cặp độc lập dùng để quan sát tổng hoạt động đồng thời, không tạo chung một receiver. Fan-in dùng chung B nên phù hợp hơn để xem chia sẻ endpoint. Bộ đếm ENA phải đọc chênh trước và sau, không đọc giá trị tích lũy thành số lỗi của một lượt. Không gộp cohort lịch sử này vào đợt RTT mới.</a:t>
            </a:r>
          </a:p>
          <a:p xmlns:a="http://schemas.openxmlformats.org/drawingml/2006/main">
            <a:r>
              <a:t/>
            </a:r>
          </a:p>
          <a:p xmlns:a="http://schemas.openxmlformats.org/drawingml/2006/main">
            <a:r>
              <a:t>Nguồn:</a:t>
            </a:r>
          </a:p>
          <a:p xmlns:a="http://schemas.openxmlformats.org/drawingml/2006/main">
            <a:r>
              <a:t>results/analysis/report-metrics.json</a:t>
            </a:r>
          </a:p>
          <a:p xmlns:a="http://schemas.openxmlformats.org/drawingml/2006/main">
            <a:r>
              <a:t>results/analysis/fanin-common-window-audit.json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chỉ mở khi cần.</a:t>
            </a:r>
          </a:p>
          <a:p xmlns:a="http://schemas.openxmlformats.org/drawingml/2006/main">
            <a:r>
              <a:t/>
            </a:r>
          </a:p>
          <a:p xmlns:a="http://schemas.openxmlformats.org/drawingml/2006/main">
            <a:r>
              <a:t>Bảng có đầy đủ hai mode, hai mức slots và hai mức tải. Sáu trăm rps có hai mươi bảy nghìn yêu cầu mỗi điều kiện qua ba block. Tám trăm rps có ba mươi sáu nghìn. Tổng tất cả điều kiện là hai trăm năm mươi hai nghìn yêu cầu theo lịch. Không có lỗi HTTP/JSON được ghi nhận, nhưng nhiều yêu cầu ở tám slots, tám trăm rps hoàn thành quá deadline. Số request lớn không biến thành số block độc lập lớn. Đơn vị lặp để so sánh điều kiện vẫn là block.</a:t>
            </a:r>
          </a:p>
          <a:p xmlns:a="http://schemas.openxmlformats.org/drawingml/2006/main">
            <a:r>
              <a:t/>
            </a:r>
          </a:p>
          <a:p xmlns:a="http://schemas.openxmlformats.org/drawingml/2006/main">
            <a:r>
              <a:t>Nguồn:</a:t>
            </a:r>
          </a:p>
          <a:p xmlns:a="http://schemas.openxmlformats.org/drawingml/2006/main">
            <a:r>
              <a:t>results/analysis/reduced-study-summary.json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chỉ mở khi cần.</a:t>
            </a:r>
          </a:p>
          <a:p xmlns:a="http://schemas.openxmlformats.org/drawingml/2006/main">
            <a:r>
              <a:t/>
            </a:r>
          </a:p>
          <a:p xmlns:a="http://schemas.openxmlformats.org/drawingml/2006/main">
            <a:r>
              <a:t>Nếu hỏi vì sao không kiểm định với hàng trăm nghìn request: các request cùng một phiên chia sẻ tài nguyên và phụ thuộc nhau, nên không coi tất cả là lần lặp độc lập. Nếu hỏi một trăm phần trăm đúng hạn có chắc chắn không: đó là tần suất trong cửa sổ đã quan sát. Nếu hỏi Little có chứng minh hệ thống Poisson không: không, quan hệ hữu hạn của cohort đầy đủ không cần giả định đó. Nếu hỏi có chứng minh giới hạn TGW không: không, nhóm chỉ quan sát hiệu năng end-to-end và hàng đợi ứng dụng. Nếu hỏi Grafana CPU: hostmetrics EC2 chưa triển khai, CPU nghiên cứu lấy từ mpstat, không diễn giải dashboard trống thành CPU bằng không.</a:t>
            </a:r>
          </a:p>
          <a:p xmlns:a="http://schemas.openxmlformats.org/drawingml/2006/main">
            <a:r>
              <a:t/>
            </a:r>
          </a:p>
          <a:p xmlns:a="http://schemas.openxmlformats.org/drawingml/2006/main">
            <a:r>
              <a:t>Nguồn:</a:t>
            </a:r>
          </a:p>
          <a:p xmlns:a="http://schemas.openxmlformats.org/drawingml/2006/main">
            <a:r>
              <a:t>docs/35-pham-vi-rut-gon-va-ket-luan.md</a:t>
            </a:r>
          </a:p>
          <a:p xmlns:a="http://schemas.openxmlformats.org/drawingml/2006/main">
            <a:r>
              <a:t>docs/36-cong-thuc-bam-bai-giang.md</a:t>
            </a:r>
          </a:p>
          <a:p xmlns:a="http://schemas.openxmlformats.org/drawingml/2006/main">
            <a:r>
              <a:t>docs/37-quay-video-va-grafana.md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Phụ lục, chỉ mở khi cần.</a:t>
            </a:r>
          </a:p>
          <a:p xmlns:a="http://schemas.openxmlformats.org/drawingml/2006/main">
            <a:r>
              <a:t/>
            </a:r>
          </a:p>
          <a:p xmlns:a="http://schemas.openxmlformats.org/drawingml/2006/main">
            <a:r>
              <a:t>Nguồn chính gồm hai bài giảng giảng viên cung cấp, tài liệu chính thức AWS và raw do nhóm thu. Little liên hệ trang PDF sáu mươi hai đến sáu mươi sáu của bài Arrival Processes. SLI, trace và phân vị liên hệ bài Internet Performance tại các trang được ghi trên slide. Thuật toán nearest rank là lựa chọn triển khai của nhóm. Nhóm chưa có slide Xác suất thống kê UIT để tự gán chương học cho các kiểm định nâng cao. Phần AI hỗ trợ và phân công thực tế cần nhóm khai đúng yêu cầu môn học.</a:t>
            </a:r>
          </a:p>
          <a:p xmlns:a="http://schemas.openxmlformats.org/drawingml/2006/main">
            <a:r>
              <a:t/>
            </a:r>
          </a:p>
          <a:p xmlns:a="http://schemas.openxmlformats.org/drawingml/2006/main">
            <a:r>
              <a:t>Nguồn:</a:t>
            </a:r>
          </a:p>
          <a:p xmlns:a="http://schemas.openxmlformats.org/drawingml/2006/main">
            <a:r>
              <a:t>docs/36-cong-thuc-bam-bai-giang.md</a:t>
            </a:r>
          </a:p>
          <a:p xmlns:a="http://schemas.openxmlformats.org/drawingml/2006/main">
            <a:r>
              <a:t>https://docs.aws.amazon.com/vpc/latest/peering/what-is-vpc-peering.html</a:t>
            </a:r>
          </a:p>
          <a:p xmlns:a="http://schemas.openxmlformats.org/drawingml/2006/main">
            <a:r>
              <a:t>https://docs.aws.amazon.com/vpc/latest/tgw/what-is-transit-gateway.html</a:t>
            </a:r>
          </a:p>
          <a:p xmlns:a="http://schemas.openxmlformats.org/drawingml/2006/main">
            <a:r>
              <a:t>https://github.com/Jonnysilverfang/NT531/tree/minh-work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42cd58fc74490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94ccee0a624b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63e0b8e85146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975ad1544349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dde418810043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94e1aef4804b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C15AD1-7C39-4D81-9A6C-F2EB40BC69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041D491-825A-4D3C-9D5A-142375EFC8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73FBDF-FA57-4BA0-AA72-C631F941F6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62F1E6-C9DE-4C02-AB48-000952CB82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989F22-A7D9-4B5C-BB77-3C158B7A66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879776-4D67-4564-A7DF-F2931B0AC0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CBEEA9-B551-4BD0-8C96-65D559EE34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BA10A5-4C85-44B3-A44C-277F4CF2FCA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54F730-BD4A-4330-9AA0-C7378070F7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174ABB-4482-4AB6-88B9-954F794837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2b0cc8c96b47ce" /><Relationship Type="http://schemas.openxmlformats.org/officeDocument/2006/relationships/slideLayout" Target="/ppt/slideLayouts/slideLayout1.xml" Id="R5680b08eb96e46a5" /><Relationship Type="http://schemas.openxmlformats.org/officeDocument/2006/relationships/slideLayout" Target="/ppt/slideLayouts/slideLayout2.xml" Id="R5eb131ae69f14975" /><Relationship Type="http://schemas.openxmlformats.org/officeDocument/2006/relationships/slideLayout" Target="/ppt/slideLayouts/slideLayout3.xml" Id="Rf5e1bb09e3f94f1e" /><Relationship Type="http://schemas.openxmlformats.org/officeDocument/2006/relationships/slideLayout" Target="/ppt/slideLayouts/slideLayout4.xml" Id="Rd919f25741e54fe2" /><Relationship Type="http://schemas.openxmlformats.org/officeDocument/2006/relationships/slideLayout" Target="/ppt/slideLayouts/slideLayout5.xml" Id="R7f26e3489234428c" /><Relationship Type="http://schemas.openxmlformats.org/officeDocument/2006/relationships/slideLayout" Target="/ppt/slideLayouts/slideLayout6.xml" Id="R6bce223869b344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80b08eb96e46a5"/>
    <p:sldLayoutId xmlns:r="http://schemas.openxmlformats.org/officeDocument/2006/relationships" id="2147483650" r:id="R5eb131ae69f14975"/>
    <p:sldLayoutId xmlns:r="http://schemas.openxmlformats.org/officeDocument/2006/relationships" id="2147483651" r:id="Rf5e1bb09e3f94f1e"/>
    <p:sldLayoutId xmlns:r="http://schemas.openxmlformats.org/officeDocument/2006/relationships" id="2147483652" r:id="Rd919f25741e54fe2"/>
    <p:sldLayoutId xmlns:r="http://schemas.openxmlformats.org/officeDocument/2006/relationships" id="2147483653" r:id="R7f26e3489234428c"/>
    <p:sldLayoutId xmlns:r="http://schemas.openxmlformats.org/officeDocument/2006/relationships" id="2147483654" r:id="R6bce223869b344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b2ac1cdbf304efa" /><Relationship Type="http://schemas.openxmlformats.org/officeDocument/2006/relationships/notesSlide" Target="/ppt/notesSlides/notesSlide1.xml" Id="R9fe15ec795e548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83d806be04241b3" /><Relationship Type="http://schemas.openxmlformats.org/officeDocument/2006/relationships/notesSlide" Target="/ppt/notesSlides/notesSlide2.xml" Id="Reafd9b57e9c240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6b4db0c35a4904" /><Relationship Type="http://schemas.openxmlformats.org/officeDocument/2006/relationships/notesSlide" Target="/ppt/notesSlides/notesSlide3.xml" Id="R66c11f72664741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9e6bd60d6a04e53" /><Relationship Type="http://schemas.openxmlformats.org/officeDocument/2006/relationships/notesSlide" Target="/ppt/notesSlides/notesSlide4.xml" Id="Rda2fe5591d0c4d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8fa05abc8e745f7" /><Relationship Type="http://schemas.openxmlformats.org/officeDocument/2006/relationships/notesSlide" Target="/ppt/notesSlides/notesSlide5.xml" Id="R04b9b2caf0de47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bafefee20a4ea3" /><Relationship Type="http://schemas.openxmlformats.org/officeDocument/2006/relationships/notesSlide" Target="/ppt/notesSlides/notesSlide6.xml" Id="R1c2ef2fb914a49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358428fc089438b" /><Relationship Type="http://schemas.openxmlformats.org/officeDocument/2006/relationships/chart" Target="/ppt/slides/charts/chart1.xml" Id="R16bfb1146d4e402a" /><Relationship Type="http://schemas.openxmlformats.org/officeDocument/2006/relationships/notesSlide" Target="/ppt/notesSlides/notesSlide7.xml" Id="Rf828e8dbe46447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8708a53cc9f4780" /><Relationship Type="http://schemas.openxmlformats.org/officeDocument/2006/relationships/chart" Target="/ppt/slides/charts/chart2.xml" Id="R0f25b6b684f3472f" /><Relationship Type="http://schemas.openxmlformats.org/officeDocument/2006/relationships/notesSlide" Target="/ppt/notesSlides/notesSlide8.xml" Id="Re3be8386ee6346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d533aee0cd439b" /><Relationship Type="http://schemas.openxmlformats.org/officeDocument/2006/relationships/notesSlide" Target="/ppt/notesSlides/notesSlide9.xml" Id="Rcc8362c6ce674a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4447fee9b9c4a1c" /><Relationship Type="http://schemas.openxmlformats.org/officeDocument/2006/relationships/notesSlide" Target="/ppt/notesSlides/notesSlide10.xml" Id="R037697bbe79e44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f79a2c969214b96" /><Relationship Type="http://schemas.openxmlformats.org/officeDocument/2006/relationships/notesSlide" Target="/ppt/notesSlides/notesSlide11.xml" Id="R9567b6385dc24e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e0db207090b4f68" /><Relationship Type="http://schemas.openxmlformats.org/officeDocument/2006/relationships/image" Target="/ppt/media/image.jpeg" Id="R66bf8d73457a43c2" /><Relationship Type="http://schemas.openxmlformats.org/officeDocument/2006/relationships/notesSlide" Target="/ppt/notesSlides/notesSlide12.xml" Id="Reca5754cd1cb4d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b2b5a6034a748cf" /><Relationship Type="http://schemas.openxmlformats.org/officeDocument/2006/relationships/notesSlide" Target="/ppt/notesSlides/notesSlide13.xml" Id="Rb427d915a3bb46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7c0f121827243aa" /><Relationship Type="http://schemas.openxmlformats.org/officeDocument/2006/relationships/notesSlide" Target="/ppt/notesSlides/notesSlide14.xml" Id="Rf6005f28d94149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1dd23f634e546e2" /><Relationship Type="http://schemas.openxmlformats.org/officeDocument/2006/relationships/notesSlide" Target="/ppt/notesSlides/notesSlide15.xml" Id="R57f78178f0074a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e10046657fd4e4b" /><Relationship Type="http://schemas.openxmlformats.org/officeDocument/2006/relationships/notesSlide" Target="/ppt/notesSlides/notesSlide16.xml" Id="Re2dde1512b6941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7556122d4214475" /><Relationship Type="http://schemas.openxmlformats.org/officeDocument/2006/relationships/notesSlide" Target="/ppt/notesSlides/notesSlide17.xml" Id="R4a47bd27ea3f42a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9987fea3e384704" /><Relationship Type="http://schemas.openxmlformats.org/officeDocument/2006/relationships/notesSlide" Target="/ppt/notesSlides/notesSlide18.xml" Id="R43825057a12d4c6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Peering</c:v>
          </c:tx>
          <c:spPr>
            <a:solidFill xmlns:a="http://schemas.openxmlformats.org/drawingml/2006/main">
              <a:srgbClr val="00837D"/>
            </a:solidFill>
          </c:spPr>
          <c:invertIfNegative val="0"/>
          <c:cat>
            <c:strRef>
              <c:f>'Chart Data'!$A$2:$A$6</c:f>
              <c:strCache>
                <c:ptCount val="5"/>
                <c:pt idx="0">
                  <c:v>Block 1</c:v>
                </c:pt>
                <c:pt idx="1">
                  <c:v>Block 2</c:v>
                </c:pt>
                <c:pt idx="2">
                  <c:v>Block 3</c:v>
                </c:pt>
                <c:pt idx="3">
                  <c:v>Block 4</c:v>
                </c:pt>
                <c:pt idx="4">
                  <c:v>Block 5</c:v>
                </c:pt>
              </c:strCache>
            </c:strRef>
          </c:cat>
          <c:val>
            <c:numRef>
              <c:f>'Chart Data'!$B$2:$B$6</c:f>
              <c:numCache>
                <c:formatCode>0.00</c:formatCode>
                <c:ptCount val="5"/>
                <c:pt idx="0">
                  <c:v>0.211333333333</c:v>
                </c:pt>
                <c:pt idx="1">
                  <c:v>0.206666666667</c:v>
                </c:pt>
                <c:pt idx="2">
                  <c:v>0.19</c:v>
                </c:pt>
                <c:pt idx="3">
                  <c:v>0.124333333333</c:v>
                </c:pt>
                <c:pt idx="4">
                  <c:v>0.134333333333</c:v>
                </c:pt>
              </c:numCache>
            </c:numRef>
          </c:val>
        </c:ser>
        <c:ser>
          <c:idx val="1"/>
          <c:order val="1"/>
          <c:tx>
            <c:v>TGW</c:v>
          </c:tx>
          <c:spPr>
            <a:solidFill xmlns:a="http://schemas.openxmlformats.org/drawingml/2006/main">
              <a:srgbClr val="D86A24"/>
            </a:solidFill>
          </c:spPr>
          <c:invertIfNegative val="0"/>
          <c:cat>
            <c:strRef>
              <c:f>'Chart Data'!$C$2:$C$6</c:f>
              <c:strCache>
                <c:ptCount val="5"/>
                <c:pt idx="0">
                  <c:v>Block 1</c:v>
                </c:pt>
                <c:pt idx="1">
                  <c:v>Block 2</c:v>
                </c:pt>
                <c:pt idx="2">
                  <c:v>Block 3</c:v>
                </c:pt>
                <c:pt idx="3">
                  <c:v>Block 4</c:v>
                </c:pt>
                <c:pt idx="4">
                  <c:v>Block 5</c:v>
                </c:pt>
              </c:strCache>
            </c:strRef>
          </c:cat>
          <c:val>
            <c:numRef>
              <c:f>'Chart Data'!$D$2:$D$6</c:f>
              <c:numCache>
                <c:formatCode>0.00</c:formatCode>
                <c:ptCount val="5"/>
                <c:pt idx="0">
                  <c:v>0.441666666667</c:v>
                </c:pt>
                <c:pt idx="1">
                  <c:v>0.446333333333</c:v>
                </c:pt>
                <c:pt idx="2">
                  <c:v>0.615666666667</c:v>
                </c:pt>
                <c:pt idx="3">
                  <c:v>0.43</c:v>
                </c:pt>
                <c:pt idx="4">
                  <c:v>0.492333333333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75"/>
          <c:min val="0"/>
        </c:scaling>
        <c:delete val="0"/>
        <c:axPos val="l"/>
        <c:majorGridlines>
          <c:spPr>
            <a:ln xmlns:a="http://schemas.openxmlformats.org/drawingml/2006/main" w="9525">
              <a:solidFill>
                <a:srgbClr val="D5E0E7"/>
              </a:solidFill>
              <a:prstDash val="solid"/>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RTT trung bình (ms)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15"/>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8 slots</c:v>
          </c:tx>
          <c:spPr>
            <a:solidFill xmlns:a="http://schemas.openxmlformats.org/drawingml/2006/main">
              <a:srgbClr val="D86A24"/>
            </a:solidFill>
          </c:spPr>
          <c:invertIfNegative val="0"/>
          <c:cat>
            <c:strRef>
              <c:f>'Chart Data'!$A$2:$A$3</c:f>
              <c:strCache>
                <c:ptCount val="2"/>
                <c:pt idx="0">
                  <c:v>Peering</c:v>
                </c:pt>
                <c:pt idx="1">
                  <c:v>TGW</c:v>
                </c:pt>
              </c:strCache>
            </c:strRef>
          </c:cat>
          <c:val>
            <c:numRef>
              <c:f>'Chart Data'!$B$2:$B$3</c:f>
              <c:numCache>
                <c:formatCode>0%</c:formatCode>
                <c:ptCount val="2"/>
                <c:pt idx="0">
                  <c:v>0.0304444444444</c:v>
                </c:pt>
                <c:pt idx="1">
                  <c:v>0.0327222222222</c:v>
                </c:pt>
              </c:numCache>
            </c:numRef>
          </c:val>
        </c:ser>
        <c:ser>
          <c:idx val="1"/>
          <c:order val="1"/>
          <c:tx>
            <c:v>16 slots</c:v>
          </c:tx>
          <c:spPr>
            <a:solidFill xmlns:a="http://schemas.openxmlformats.org/drawingml/2006/main">
              <a:srgbClr val="00837D"/>
            </a:solidFill>
          </c:spPr>
          <c:invertIfNegative val="0"/>
          <c:cat>
            <c:strRef>
              <c:f>'Chart Data'!$C$2:$C$3</c:f>
              <c:strCache>
                <c:ptCount val="2"/>
                <c:pt idx="0">
                  <c:v>Peering</c:v>
                </c:pt>
                <c:pt idx="1">
                  <c:v>TGW</c:v>
                </c:pt>
              </c:strCache>
            </c:strRef>
          </c:cat>
          <c:val>
            <c:numRef>
              <c:f>'Chart Data'!$D$2:$D$3</c:f>
              <c:numCache>
                <c:formatCode>0%</c:formatCode>
                <c:ptCount val="2"/>
                <c:pt idx="0">
                  <c:v>1</c:v>
                </c:pt>
                <c:pt idx="1">
                  <c:v>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latin typeface="Arial"/>
                  <a:ea typeface="Arial"/>
                  <a:cs typeface="Arial"/>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15"/>
          <c:min val="0"/>
        </c:scaling>
        <c:delete val="0"/>
        <c:axPos val="l"/>
        <c:majorGridlines>
          <c:spPr>
            <a:ln xmlns:a="http://schemas.openxmlformats.org/drawingml/2006/main" w="9525">
              <a:solidFill>
                <a:srgbClr val="D5E0E7"/>
              </a:solidFill>
              <a:prstDash val="solid"/>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Tỷ lệ đúng hạn ≤ 50 ms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25"/>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D4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A8BB53-5285-4DC8-9E4D-0F8F19BD3BBD}"/>
              </a:ext>
            </a:extLst>
          </p:cNvPr>
          <p:cNvSpPr>
            <a:spLocks xmlns:a="http://schemas.openxmlformats.org/drawingml/2006/main" noGrp="1"/>
          </p:cNvSpPr>
          <p:nvPr/>
        </p:nvSpPr>
        <p:spPr>
          <a:xfrm xmlns:a="http://schemas.openxmlformats.org/drawingml/2006/main">
            <a:off x="609600" y="571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DEDB"/>
                </a:solidFill>
                <a:latin typeface="Arial"/>
                <a:ea typeface="Arial"/>
                <a:cs typeface="Arial"/>
              </a:defRPr>
            </a:defPPr>
          </a:lstStyle>
          <a:p xmlns:a="http://schemas.openxmlformats.org/drawingml/2006/main">
            <a:pPr algn="l">
              <a:defRPr sz="1875" b="0">
                <a:solidFill>
                  <a:srgbClr val="B6DEDB"/>
                </a:solidFill>
                <a:latin typeface="Arial"/>
                <a:ea typeface="Arial"/>
                <a:cs typeface="Arial"/>
              </a:defRPr>
            </a:pPr>
            <a:r>
              <a:rPr sz="1875" b="0">
                <a:solidFill>
                  <a:srgbClr val="B6DEDB"/>
                </a:solidFill>
                <a:latin typeface="Arial"/>
                <a:ea typeface="Arial"/>
                <a:cs typeface="Arial"/>
              </a:rPr>
              <a:t>NT531 · Đánh giá hiệu năng mạng máy tính</a:t>
            </a:r>
          </a:p>
        </p:txBody>
      </p:sp>
      <p:sp>
        <p:nvSpPr>
          <p:cNvPr id="2" name="">
            <a:extLst xmlns:a="http://schemas.openxmlformats.org/drawingml/2006/main">
              <a:ext uri="{FF2B5EF4-FFF2-40B4-BE49-F238E27FC236}">
                <a16:creationId xmlns:a16="http://schemas.microsoft.com/office/drawing/2014/main" id="{87770484-E46F-4153-B7C0-1B5987807AE7}"/>
              </a:ext>
            </a:extLst>
          </p:cNvPr>
          <p:cNvSpPr>
            <a:spLocks xmlns:a="http://schemas.openxmlformats.org/drawingml/2006/main" noGrp="1"/>
          </p:cNvSpPr>
          <p:nvPr/>
        </p:nvSpPr>
        <p:spPr>
          <a:xfrm xmlns:a="http://schemas.openxmlformats.org/drawingml/2006/main">
            <a:off x="609600" y="161925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FFFFFF"/>
                </a:solidFill>
                <a:latin typeface="Arial"/>
                <a:ea typeface="Arial"/>
                <a:cs typeface="Arial"/>
              </a:defRPr>
            </a:defPPr>
          </a:lstStyle>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VPC Peering và Transit Gateway</a:t>
            </a:r>
          </a:p>
        </p:txBody>
      </p:sp>
      <p:sp>
        <p:nvSpPr>
          <p:cNvPr id="3" name="">
            <a:extLst xmlns:a="http://schemas.openxmlformats.org/drawingml/2006/main">
              <a:ext uri="{FF2B5EF4-FFF2-40B4-BE49-F238E27FC236}">
                <a16:creationId xmlns:a16="http://schemas.microsoft.com/office/drawing/2014/main" id="{C741BF40-92E6-4DD3-8997-03393045E071}"/>
              </a:ext>
            </a:extLst>
          </p:cNvPr>
          <p:cNvSpPr>
            <a:spLocks xmlns:a="http://schemas.openxmlformats.org/drawingml/2006/main" noGrp="1"/>
          </p:cNvSpPr>
          <p:nvPr/>
        </p:nvSpPr>
        <p:spPr>
          <a:xfrm xmlns:a="http://schemas.openxmlformats.org/drawingml/2006/main">
            <a:off x="609600" y="31908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DCE7ED"/>
                </a:solidFill>
                <a:latin typeface="Arial"/>
                <a:ea typeface="Arial"/>
                <a:cs typeface="Arial"/>
              </a:defRPr>
            </a:defPPr>
          </a:lstStyle>
          <a:p xmlns:a="http://schemas.openxmlformats.org/drawingml/2006/main">
            <a:pPr algn="l">
              <a:defRPr sz="2550" b="0">
                <a:solidFill>
                  <a:srgbClr val="DCE7ED"/>
                </a:solidFill>
                <a:latin typeface="Arial"/>
                <a:ea typeface="Arial"/>
                <a:cs typeface="Arial"/>
              </a:defRPr>
            </a:pPr>
            <a:r>
              <a:rPr sz="2550" b="0">
                <a:solidFill>
                  <a:srgbClr val="DCE7ED"/>
                </a:solidFill>
                <a:latin typeface="Arial"/>
                <a:ea typeface="Arial"/>
                <a:cs typeface="Arial"/>
              </a:rPr>
              <a:t>Độ trễ mạng, chất lượng ứng dụng và hàng đợi</a:t>
            </a:r>
          </a:p>
        </p:txBody>
      </p:sp>
      <p:sp>
        <p:nvSpPr>
          <p:cNvPr id="4" name="">
            <a:extLst xmlns:a="http://schemas.openxmlformats.org/drawingml/2006/main">
              <a:ext uri="{FF2B5EF4-FFF2-40B4-BE49-F238E27FC236}">
                <a16:creationId xmlns:a16="http://schemas.microsoft.com/office/drawing/2014/main" id="{9692B313-227A-478F-8F8C-EADCF78C0751}"/>
              </a:ext>
            </a:extLst>
          </p:cNvPr>
          <p:cNvSpPr>
            <a:spLocks xmlns:a="http://schemas.openxmlformats.org/drawingml/2006/main" noGrp="1"/>
          </p:cNvSpPr>
          <p:nvPr/>
        </p:nvSpPr>
        <p:spPr>
          <a:xfrm xmlns:a="http://schemas.openxmlformats.org/drawingml/2006/main">
            <a:off x="609600" y="4381500"/>
            <a:ext cx="666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Nguyễn Ngọc Minh · 24521068</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Nguyễn Huy Nhật · 24521253</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Nguyễn Trung Kiên · 24520885</a:t>
            </a:r>
          </a:p>
        </p:txBody>
      </p:sp>
      <p:sp>
        <p:nvSpPr>
          <p:cNvPr id="5" name="">
            <a:extLst xmlns:a="http://schemas.openxmlformats.org/drawingml/2006/main">
              <a:ext uri="{FF2B5EF4-FFF2-40B4-BE49-F238E27FC236}">
                <a16:creationId xmlns:a16="http://schemas.microsoft.com/office/drawing/2014/main" id="{D2B06981-EDFF-483E-A54F-7E2BF2D197C4}"/>
              </a:ext>
            </a:extLst>
          </p:cNvPr>
          <p:cNvSpPr>
            <a:spLocks xmlns:a="http://schemas.openxmlformats.org/drawingml/2006/main" noGrp="1"/>
          </p:cNvSpPr>
          <p:nvPr/>
        </p:nvSpPr>
        <p:spPr>
          <a:xfrm xmlns:a="http://schemas.openxmlformats.org/drawingml/2006/main">
            <a:off x="609600" y="59531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6DEDB"/>
                </a:solidFill>
                <a:latin typeface="Arial"/>
                <a:ea typeface="Arial"/>
                <a:cs typeface="Arial"/>
              </a:defRPr>
            </a:defPPr>
          </a:lstStyle>
          <a:p xmlns:a="http://schemas.openxmlformats.org/drawingml/2006/main">
            <a:pPr algn="l">
              <a:defRPr sz="1875" b="0">
                <a:solidFill>
                  <a:srgbClr val="B6DEDB"/>
                </a:solidFill>
                <a:latin typeface="Arial"/>
                <a:ea typeface="Arial"/>
                <a:cs typeface="Arial"/>
              </a:defRPr>
            </a:pPr>
            <a:r>
              <a:rPr sz="1875" b="0">
                <a:solidFill>
                  <a:srgbClr val="B6DEDB"/>
                </a:solidFill>
                <a:latin typeface="Arial"/>
                <a:ea typeface="Arial"/>
                <a:cs typeface="Arial"/>
              </a:rPr>
              <a:t>Giảng viên: Đặng Lê Bảo Chương</a:t>
            </a:r>
          </a:p>
        </p:txBody>
      </p:sp>
    </p:spTree>
    <p:extLst>
      <p:ext uri="{BB962C8B-B14F-4D97-AF65-F5344CB8AC3E}">
        <p14:creationId xmlns:p14="http://schemas.microsoft.com/office/powerpoint/2010/main" val="4096397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D581A5-5A05-4B2D-83AF-C5B26C6F2F98}"/>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Câu hỏi nghiên cứu</a:t>
            </a:r>
          </a:p>
        </p:txBody>
      </p:sp>
      <p:sp>
        <p:nvSpPr>
          <p:cNvPr id="2" name="">
            <a:extLst xmlns:a="http://schemas.openxmlformats.org/drawingml/2006/main">
              <a:ext uri="{FF2B5EF4-FFF2-40B4-BE49-F238E27FC236}">
                <a16:creationId xmlns:a16="http://schemas.microsoft.com/office/drawing/2014/main" id="{49D00D24-693F-4B85-9CF9-6B36786AF486}"/>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335177B-6088-4F1C-A572-812FEBA2BB3E}"/>
              </a:ext>
            </a:extLst>
          </p:cNvPr>
          <p:cNvSpPr>
            <a:spLocks xmlns:a="http://schemas.openxmlformats.org/drawingml/2006/main" noGrp="1"/>
          </p:cNvSpPr>
          <p:nvPr/>
        </p:nvSpPr>
        <p:spPr>
          <a:xfrm xmlns:a="http://schemas.openxmlformats.org/drawingml/2006/main">
            <a:off x="609600" y="1666875"/>
            <a:ext cx="1085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32D46"/>
                </a:solidFill>
                <a:latin typeface="Arial"/>
                <a:ea typeface="Arial"/>
                <a:cs typeface="Arial"/>
              </a:defRPr>
            </a:defPPr>
          </a:lstStyle>
          <a:p xmlns:a="http://schemas.openxmlformats.org/drawingml/2006/main">
            <a:pPr algn="l">
              <a:defRPr sz="3675" b="1">
                <a:solidFill>
                  <a:srgbClr val="132D46"/>
                </a:solidFill>
                <a:latin typeface="Arial"/>
                <a:ea typeface="Arial"/>
                <a:cs typeface="Arial"/>
              </a:defRPr>
            </a:pPr>
            <a:r>
              <a:rPr sz="3675" b="1">
                <a:solidFill>
                  <a:srgbClr val="132D46"/>
                </a:solidFill>
                <a:latin typeface="Arial"/>
                <a:ea typeface="Arial"/>
                <a:cs typeface="Arial"/>
              </a:rPr>
              <a:t>Mạng nhanh hơn có giúp ứng dụng</a:t>
            </a:r>
          </a:p>
          <a:p xmlns:a="http://schemas.openxmlformats.org/drawingml/2006/main">
            <a:pPr algn="l">
              <a:defRPr sz="3675" b="1">
                <a:solidFill>
                  <a:srgbClr val="132D46"/>
                </a:solidFill>
                <a:latin typeface="Arial"/>
                <a:ea typeface="Arial"/>
                <a:cs typeface="Arial"/>
              </a:defRPr>
            </a:pPr>
            <a:r>
              <a:rPr sz="3675" b="1">
                <a:solidFill>
                  <a:srgbClr val="132D46"/>
                </a:solidFill>
                <a:latin typeface="Arial"/>
                <a:ea typeface="Arial"/>
                <a:cs typeface="Arial"/>
              </a:rPr>
              <a:t>đáp ứng deadline khi gần công suất?</a:t>
            </a:r>
          </a:p>
        </p:txBody>
      </p:sp>
      <p:sp>
        <p:nvSpPr>
          <p:cNvPr id="4" name="">
            <a:extLst xmlns:a="http://schemas.openxmlformats.org/drawingml/2006/main">
              <a:ext uri="{FF2B5EF4-FFF2-40B4-BE49-F238E27FC236}">
                <a16:creationId xmlns:a16="http://schemas.microsoft.com/office/drawing/2014/main" id="{5AE4D879-27E2-45E0-9291-73F3EBB6D495}"/>
              </a:ext>
            </a:extLst>
          </p:cNvPr>
          <p:cNvSpPr>
            <a:spLocks xmlns:a="http://schemas.openxmlformats.org/drawingml/2006/main" noGrp="1"/>
          </p:cNvSpPr>
          <p:nvPr/>
        </p:nvSpPr>
        <p:spPr>
          <a:xfrm xmlns:a="http://schemas.openxmlformats.org/drawingml/2006/main">
            <a:off x="609600" y="36671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837D"/>
                </a:solidFill>
                <a:latin typeface="Arial"/>
                <a:ea typeface="Arial"/>
                <a:cs typeface="Arial"/>
              </a:defRPr>
            </a:defPPr>
          </a:lstStyle>
          <a:p xmlns:a="http://schemas.openxmlformats.org/drawingml/2006/main">
            <a:pPr algn="l">
              <a:defRPr sz="2400" b="1">
                <a:solidFill>
                  <a:srgbClr val="00837D"/>
                </a:solidFill>
                <a:latin typeface="Arial"/>
                <a:ea typeface="Arial"/>
                <a:cs typeface="Arial"/>
              </a:defRPr>
            </a:pPr>
            <a:r>
              <a:rPr sz="2400" b="1">
                <a:solidFill>
                  <a:srgbClr val="00837D"/>
                </a:solidFill>
                <a:latin typeface="Arial"/>
                <a:ea typeface="Arial"/>
                <a:cs typeface="Arial"/>
              </a:rPr>
              <a:t>RTT của hai đường mạng</a:t>
            </a:r>
          </a:p>
        </p:txBody>
      </p:sp>
      <p:sp>
        <p:nvSpPr>
          <p:cNvPr id="5" name="">
            <a:extLst xmlns:a="http://schemas.openxmlformats.org/drawingml/2006/main">
              <a:ext uri="{FF2B5EF4-FFF2-40B4-BE49-F238E27FC236}">
                <a16:creationId xmlns:a16="http://schemas.microsoft.com/office/drawing/2014/main" id="{6C454F3B-F1D6-47DF-8EAF-654AC4B17C65}"/>
              </a:ext>
            </a:extLst>
          </p:cNvPr>
          <p:cNvSpPr>
            <a:spLocks xmlns:a="http://schemas.openxmlformats.org/drawingml/2006/main" noGrp="1"/>
          </p:cNvSpPr>
          <p:nvPr/>
        </p:nvSpPr>
        <p:spPr>
          <a:xfrm xmlns:a="http://schemas.openxmlformats.org/drawingml/2006/main">
            <a:off x="609600" y="4286250"/>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D46"/>
                </a:solidFill>
                <a:latin typeface="Arial"/>
                <a:ea typeface="Arial"/>
                <a:cs typeface="Arial"/>
              </a:defRPr>
            </a:defPPr>
          </a:lstStyle>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So sánh cùng EC2, ghép hai mode</a:t>
            </a:r>
          </a:p>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trong từng block.</a:t>
            </a:r>
          </a:p>
        </p:txBody>
      </p:sp>
      <p:sp>
        <p:nvSpPr>
          <p:cNvPr id="6" name="">
            <a:extLst xmlns:a="http://schemas.openxmlformats.org/drawingml/2006/main">
              <a:ext uri="{FF2B5EF4-FFF2-40B4-BE49-F238E27FC236}">
                <a16:creationId xmlns:a16="http://schemas.microsoft.com/office/drawing/2014/main" id="{2FAA831D-84D3-463B-8462-34ABCA6D9A98}"/>
              </a:ext>
            </a:extLst>
          </p:cNvPr>
          <p:cNvSpPr>
            <a:spLocks xmlns:a="http://schemas.openxmlformats.org/drawingml/2006/main" noGrp="1"/>
          </p:cNvSpPr>
          <p:nvPr/>
        </p:nvSpPr>
        <p:spPr>
          <a:xfrm xmlns:a="http://schemas.openxmlformats.org/drawingml/2006/main">
            <a:off x="6429375" y="36671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D86A24"/>
                </a:solidFill>
                <a:latin typeface="Arial"/>
                <a:ea typeface="Arial"/>
                <a:cs typeface="Arial"/>
              </a:defRPr>
            </a:defPPr>
          </a:lstStyle>
          <a:p xmlns:a="http://schemas.openxmlformats.org/drawingml/2006/main">
            <a:pPr algn="l">
              <a:defRPr sz="2400" b="1">
                <a:solidFill>
                  <a:srgbClr val="D86A24"/>
                </a:solidFill>
                <a:latin typeface="Arial"/>
                <a:ea typeface="Arial"/>
                <a:cs typeface="Arial"/>
              </a:defRPr>
            </a:pPr>
            <a:r>
              <a:rPr sz="2400" b="1">
                <a:solidFill>
                  <a:srgbClr val="D86A24"/>
                </a:solidFill>
                <a:latin typeface="Arial"/>
                <a:ea typeface="Arial"/>
                <a:cs typeface="Arial"/>
              </a:rPr>
              <a:t>Khả năng phục vụ tại worker</a:t>
            </a:r>
          </a:p>
        </p:txBody>
      </p:sp>
      <p:sp>
        <p:nvSpPr>
          <p:cNvPr id="7" name="">
            <a:extLst xmlns:a="http://schemas.openxmlformats.org/drawingml/2006/main">
              <a:ext uri="{FF2B5EF4-FFF2-40B4-BE49-F238E27FC236}">
                <a16:creationId xmlns:a16="http://schemas.microsoft.com/office/drawing/2014/main" id="{D069FBC2-428E-4E4E-BA2D-8547229858EB}"/>
              </a:ext>
            </a:extLst>
          </p:cNvPr>
          <p:cNvSpPr>
            <a:spLocks xmlns:a="http://schemas.openxmlformats.org/drawingml/2006/main" noGrp="1"/>
          </p:cNvSpPr>
          <p:nvPr/>
        </p:nvSpPr>
        <p:spPr>
          <a:xfrm xmlns:a="http://schemas.openxmlformats.org/drawingml/2006/main">
            <a:off x="6429375" y="4286250"/>
            <a:ext cx="5143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D46"/>
                </a:solidFill>
                <a:latin typeface="Arial"/>
                <a:ea typeface="Arial"/>
                <a:cs typeface="Arial"/>
              </a:defRPr>
            </a:defPPr>
          </a:lstStyle>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Can thiệp 8 và 16 slots</a:t>
            </a:r>
          </a:p>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ở tải 600 và 800 yêu cầu/s.</a:t>
            </a:r>
          </a:p>
        </p:txBody>
      </p:sp>
      <p:sp>
        <p:nvSpPr>
          <p:cNvPr id="8" name="">
            <a:extLst xmlns:a="http://schemas.openxmlformats.org/drawingml/2006/main">
              <a:ext uri="{FF2B5EF4-FFF2-40B4-BE49-F238E27FC236}">
                <a16:creationId xmlns:a16="http://schemas.microsoft.com/office/drawing/2014/main" id="{6AC784DC-B8C1-4AA4-98CD-A76DF246046C}"/>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Hai lớp đo: ICMP cho RTT mạng và HTTP cho chất lượng ứng dụng.</a:t>
            </a:r>
          </a:p>
        </p:txBody>
      </p:sp>
    </p:spTree>
    <p:extLst>
      <p:ext uri="{BB962C8B-B14F-4D97-AF65-F5344CB8AC3E}">
        <p14:creationId xmlns:p14="http://schemas.microsoft.com/office/powerpoint/2010/main" val="10317100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FFEF0A4D-67BE-4C74-B232-0E9039A122DE}"/>
              </a:ext>
            </a:extLst>
          </p:cNvPr>
          <p:cNvCxnSpPr>
            <a:stCxn xmlns:a="http://schemas.openxmlformats.org/drawingml/2006/main" id="19" idx="1"/>
            <a:endCxn xmlns:a="http://schemas.openxmlformats.org/drawingml/2006/main" id="20" idx="3"/>
          </p:cNvCxnSpPr>
          <p:nvPr/>
        </p:nvCxnSpPr>
        <p:spPr>
          <a:xfrm xmlns:a="http://schemas.openxmlformats.org/drawingml/2006/main" flipH="1" flipV="1">
            <a:off x="9629775" y="3690938"/>
            <a:ext cx="323850" cy="1047750"/>
          </a:xfrm>
          <a:prstGeom xmlns:a="http://schemas.openxmlformats.org/drawingml/2006/main" prst="straightConnector1">
            <a:avLst/>
          </a:prstGeom>
          <a:ln xmlns:a="http://schemas.openxmlformats.org/drawingml/2006/main" w="19050">
            <a:solidFill>
              <a:srgbClr val="D86A24"/>
            </a:solidFill>
            <a:tailEnd type="none" w="med" len="med"/>
          </a:ln>
        </p:spPr>
      </p:cxnSp>
      <p:cxnSp>
        <p:nvCxnSpPr>
          <p:cNvPr id="23" name="">
            <a:extLst xmlns:a="http://schemas.openxmlformats.org/drawingml/2006/main">
              <a:ext uri="{FF2B5EF4-FFF2-40B4-BE49-F238E27FC236}">
                <a16:creationId xmlns:a16="http://schemas.microsoft.com/office/drawing/2014/main" id="{0193015A-7014-4B10-9DCC-9440E8D3BD17}"/>
              </a:ext>
            </a:extLst>
          </p:cNvPr>
          <p:cNvCxnSpPr>
            <a:stCxn xmlns:a="http://schemas.openxmlformats.org/drawingml/2006/main" id="18" idx="3"/>
            <a:endCxn xmlns:a="http://schemas.openxmlformats.org/drawingml/2006/main" id="20" idx="1"/>
          </p:cNvCxnSpPr>
          <p:nvPr/>
        </p:nvCxnSpPr>
        <p:spPr>
          <a:xfrm xmlns:a="http://schemas.openxmlformats.org/drawingml/2006/main" flipV="1">
            <a:off x="8096250" y="3690938"/>
            <a:ext cx="342900" cy="1047750"/>
          </a:xfrm>
          <a:prstGeom xmlns:a="http://schemas.openxmlformats.org/drawingml/2006/main" prst="straightConnector1">
            <a:avLst/>
          </a:prstGeom>
          <a:ln xmlns:a="http://schemas.openxmlformats.org/drawingml/2006/main" w="19050">
            <a:solidFill>
              <a:srgbClr val="D86A24"/>
            </a:solidFill>
            <a:tailEnd type="none" w="med" len="med"/>
          </a:ln>
        </p:spPr>
      </p:cxnSp>
      <p:cxnSp>
        <p:nvCxnSpPr>
          <p:cNvPr id="22" name="">
            <a:extLst xmlns:a="http://schemas.openxmlformats.org/drawingml/2006/main">
              <a:ext uri="{FF2B5EF4-FFF2-40B4-BE49-F238E27FC236}">
                <a16:creationId xmlns:a16="http://schemas.microsoft.com/office/drawing/2014/main" id="{E834D9B3-E988-4DF2-A546-C62EF3571258}"/>
              </a:ext>
            </a:extLst>
          </p:cNvPr>
          <p:cNvCxnSpPr>
            <a:stCxn xmlns:a="http://schemas.openxmlformats.org/drawingml/2006/main" id="17" idx="1"/>
            <a:endCxn xmlns:a="http://schemas.openxmlformats.org/drawingml/2006/main" id="20" idx="0"/>
          </p:cNvCxnSpPr>
          <p:nvPr/>
        </p:nvCxnSpPr>
        <p:spPr>
          <a:xfrm xmlns:a="http://schemas.openxmlformats.org/drawingml/2006/main" flipH="1">
            <a:off x="9034463" y="2500313"/>
            <a:ext cx="919163" cy="785813"/>
          </a:xfrm>
          <a:prstGeom xmlns:a="http://schemas.openxmlformats.org/drawingml/2006/main" prst="straightConnector1">
            <a:avLst/>
          </a:prstGeom>
          <a:ln xmlns:a="http://schemas.openxmlformats.org/drawingml/2006/main" w="19050">
            <a:solidFill>
              <a:srgbClr val="D86A24"/>
            </a:solidFill>
            <a:tailEnd type="none" w="med" len="med"/>
          </a:ln>
        </p:spPr>
      </p:cxnSp>
      <p:cxnSp>
        <p:nvCxnSpPr>
          <p:cNvPr id="21" name="">
            <a:extLst xmlns:a="http://schemas.openxmlformats.org/drawingml/2006/main">
              <a:ext uri="{FF2B5EF4-FFF2-40B4-BE49-F238E27FC236}">
                <a16:creationId xmlns:a16="http://schemas.microsoft.com/office/drawing/2014/main" id="{E22F85A9-13D6-4E41-97E0-D27DF8EB7B6A}"/>
              </a:ext>
            </a:extLst>
          </p:cNvPr>
          <p:cNvCxnSpPr>
            <a:stCxn xmlns:a="http://schemas.openxmlformats.org/drawingml/2006/main" id="16" idx="3"/>
            <a:endCxn xmlns:a="http://schemas.openxmlformats.org/drawingml/2006/main" id="20" idx="0"/>
          </p:cNvCxnSpPr>
          <p:nvPr/>
        </p:nvCxnSpPr>
        <p:spPr>
          <a:xfrm xmlns:a="http://schemas.openxmlformats.org/drawingml/2006/main">
            <a:off x="8096250" y="2500313"/>
            <a:ext cx="938213" cy="785813"/>
          </a:xfrm>
          <a:prstGeom xmlns:a="http://schemas.openxmlformats.org/drawingml/2006/main" prst="straightConnector1">
            <a:avLst/>
          </a:prstGeom>
          <a:ln xmlns:a="http://schemas.openxmlformats.org/drawingml/2006/main" w="19050">
            <a:solidFill>
              <a:srgbClr val="D86A24"/>
            </a:solidFill>
            <a:tailEnd type="none" w="med" len="med"/>
          </a:ln>
        </p:spPr>
      </p:cxnSp>
      <p:cxnSp>
        <p:nvCxnSpPr>
          <p:cNvPr id="13" name="">
            <a:extLst xmlns:a="http://schemas.openxmlformats.org/drawingml/2006/main">
              <a:ext uri="{FF2B5EF4-FFF2-40B4-BE49-F238E27FC236}">
                <a16:creationId xmlns:a16="http://schemas.microsoft.com/office/drawing/2014/main" id="{69B3A374-F2C8-47BB-8741-7CA299F44BDC}"/>
              </a:ext>
            </a:extLst>
          </p:cNvPr>
          <p:cNvCxnSpPr>
            <a:stCxn xmlns:a="http://schemas.openxmlformats.org/drawingml/2006/main" id="6" idx="3"/>
            <a:endCxn xmlns:a="http://schemas.openxmlformats.org/drawingml/2006/main" id="7" idx="1"/>
          </p:cNvCxnSpPr>
          <p:nvPr/>
        </p:nvCxnSpPr>
        <p:spPr>
          <a:xfrm xmlns:a="http://schemas.openxmlformats.org/drawingml/2006/main">
            <a:off x="2476500" y="4800600"/>
            <a:ext cx="1238250" cy="0"/>
          </a:xfrm>
          <a:prstGeom xmlns:a="http://schemas.openxmlformats.org/drawingml/2006/main" prst="straightConnector1">
            <a:avLst/>
          </a:prstGeom>
          <a:ln xmlns:a="http://schemas.openxmlformats.org/drawingml/2006/main" w="19050">
            <a:solidFill>
              <a:srgbClr val="00837D"/>
            </a:solidFill>
            <a:tailEnd type="none" w="med" len="med"/>
          </a:ln>
        </p:spPr>
      </p:cxnSp>
      <p:cxnSp>
        <p:nvCxnSpPr>
          <p:cNvPr id="12" name="">
            <a:extLst xmlns:a="http://schemas.openxmlformats.org/drawingml/2006/main">
              <a:ext uri="{FF2B5EF4-FFF2-40B4-BE49-F238E27FC236}">
                <a16:creationId xmlns:a16="http://schemas.microsoft.com/office/drawing/2014/main" id="{7A21244B-3B18-427B-9C49-E67689253564}"/>
              </a:ext>
            </a:extLst>
          </p:cNvPr>
          <p:cNvCxnSpPr>
            <a:stCxn xmlns:a="http://schemas.openxmlformats.org/drawingml/2006/main" id="5" idx="2"/>
            <a:endCxn xmlns:a="http://schemas.openxmlformats.org/drawingml/2006/main" id="7" idx="0"/>
          </p:cNvCxnSpPr>
          <p:nvPr/>
        </p:nvCxnSpPr>
        <p:spPr>
          <a:xfrm xmlns:a="http://schemas.openxmlformats.org/drawingml/2006/main">
            <a:off x="4548188" y="2933700"/>
            <a:ext cx="0" cy="1495425"/>
          </a:xfrm>
          <a:prstGeom xmlns:a="http://schemas.openxmlformats.org/drawingml/2006/main" prst="straightConnector1">
            <a:avLst/>
          </a:prstGeom>
          <a:ln xmlns:a="http://schemas.openxmlformats.org/drawingml/2006/main" w="19050">
            <a:solidFill>
              <a:srgbClr val="00837D"/>
            </a:solidFill>
            <a:tailEnd type="none" w="med" len="med"/>
          </a:ln>
        </p:spPr>
      </p:cxnSp>
      <p:cxnSp>
        <p:nvCxnSpPr>
          <p:cNvPr id="11" name="">
            <a:extLst xmlns:a="http://schemas.openxmlformats.org/drawingml/2006/main">
              <a:ext uri="{FF2B5EF4-FFF2-40B4-BE49-F238E27FC236}">
                <a16:creationId xmlns:a16="http://schemas.microsoft.com/office/drawing/2014/main" id="{3C9CF0D6-C2CF-409D-A7E1-B2A474D7C8DC}"/>
              </a:ext>
            </a:extLst>
          </p:cNvPr>
          <p:cNvCxnSpPr>
            <a:stCxn xmlns:a="http://schemas.openxmlformats.org/drawingml/2006/main" id="5" idx="1"/>
            <a:endCxn xmlns:a="http://schemas.openxmlformats.org/drawingml/2006/main" id="6" idx="3"/>
          </p:cNvCxnSpPr>
          <p:nvPr/>
        </p:nvCxnSpPr>
        <p:spPr>
          <a:xfrm xmlns:a="http://schemas.openxmlformats.org/drawingml/2006/main" flipH="1">
            <a:off x="2476500" y="2562225"/>
            <a:ext cx="1238250" cy="2238375"/>
          </a:xfrm>
          <a:prstGeom xmlns:a="http://schemas.openxmlformats.org/drawingml/2006/main" prst="straightConnector1">
            <a:avLst/>
          </a:prstGeom>
          <a:ln xmlns:a="http://schemas.openxmlformats.org/drawingml/2006/main" w="19050">
            <a:solidFill>
              <a:srgbClr val="00837D"/>
            </a:solidFill>
            <a:tailEnd type="none" w="med" len="med"/>
          </a:ln>
        </p:spPr>
      </p:cxnSp>
      <p:cxnSp>
        <p:nvCxnSpPr>
          <p:cNvPr id="10" name="">
            <a:extLst xmlns:a="http://schemas.openxmlformats.org/drawingml/2006/main">
              <a:ext uri="{FF2B5EF4-FFF2-40B4-BE49-F238E27FC236}">
                <a16:creationId xmlns:a16="http://schemas.microsoft.com/office/drawing/2014/main" id="{9F04A332-9205-4EA5-9CF6-F27690E689FA}"/>
              </a:ext>
            </a:extLst>
          </p:cNvPr>
          <p:cNvCxnSpPr>
            <a:stCxn xmlns:a="http://schemas.openxmlformats.org/drawingml/2006/main" id="4" idx="3"/>
            <a:endCxn xmlns:a="http://schemas.openxmlformats.org/drawingml/2006/main" id="7" idx="1"/>
          </p:cNvCxnSpPr>
          <p:nvPr/>
        </p:nvCxnSpPr>
        <p:spPr>
          <a:xfrm xmlns:a="http://schemas.openxmlformats.org/drawingml/2006/main">
            <a:off x="2476500" y="2562225"/>
            <a:ext cx="1238250" cy="2238375"/>
          </a:xfrm>
          <a:prstGeom xmlns:a="http://schemas.openxmlformats.org/drawingml/2006/main" prst="straightConnector1">
            <a:avLst/>
          </a:prstGeom>
          <a:ln xmlns:a="http://schemas.openxmlformats.org/drawingml/2006/main" w="19050">
            <a:solidFill>
              <a:srgbClr val="00837D"/>
            </a:solidFill>
            <a:tailEnd type="none" w="med" len="med"/>
          </a:ln>
        </p:spPr>
      </p:cxnSp>
      <p:cxnSp>
        <p:nvCxnSpPr>
          <p:cNvPr id="9" name="">
            <a:extLst xmlns:a="http://schemas.openxmlformats.org/drawingml/2006/main">
              <a:ext uri="{FF2B5EF4-FFF2-40B4-BE49-F238E27FC236}">
                <a16:creationId xmlns:a16="http://schemas.microsoft.com/office/drawing/2014/main" id="{18E3E9FA-2AAA-40B6-A546-D2480037D83A}"/>
              </a:ext>
            </a:extLst>
          </p:cNvPr>
          <p:cNvCxnSpPr>
            <a:stCxn xmlns:a="http://schemas.openxmlformats.org/drawingml/2006/main" id="4" idx="2"/>
            <a:endCxn xmlns:a="http://schemas.openxmlformats.org/drawingml/2006/main" id="6" idx="0"/>
          </p:cNvCxnSpPr>
          <p:nvPr/>
        </p:nvCxnSpPr>
        <p:spPr>
          <a:xfrm xmlns:a="http://schemas.openxmlformats.org/drawingml/2006/main">
            <a:off x="1643063" y="2933700"/>
            <a:ext cx="0" cy="1495425"/>
          </a:xfrm>
          <a:prstGeom xmlns:a="http://schemas.openxmlformats.org/drawingml/2006/main" prst="straightConnector1">
            <a:avLst/>
          </a:prstGeom>
          <a:ln xmlns:a="http://schemas.openxmlformats.org/drawingml/2006/main" w="19050">
            <a:solidFill>
              <a:srgbClr val="00837D"/>
            </a:solidFill>
            <a:tailEnd type="none" w="med" len="med"/>
          </a:ln>
        </p:spPr>
      </p:cxnSp>
      <p:cxnSp>
        <p:nvCxnSpPr>
          <p:cNvPr id="8" name="">
            <a:extLst xmlns:a="http://schemas.openxmlformats.org/drawingml/2006/main">
              <a:ext uri="{FF2B5EF4-FFF2-40B4-BE49-F238E27FC236}">
                <a16:creationId xmlns:a16="http://schemas.microsoft.com/office/drawing/2014/main" id="{29AFDC68-07B1-4F02-BC40-31C1811F98E1}"/>
              </a:ext>
            </a:extLst>
          </p:cNvPr>
          <p:cNvCxnSpPr>
            <a:stCxn xmlns:a="http://schemas.openxmlformats.org/drawingml/2006/main" id="4" idx="3"/>
            <a:endCxn xmlns:a="http://schemas.openxmlformats.org/drawingml/2006/main" id="5" idx="1"/>
          </p:cNvCxnSpPr>
          <p:nvPr/>
        </p:nvCxnSpPr>
        <p:spPr>
          <a:xfrm xmlns:a="http://schemas.openxmlformats.org/drawingml/2006/main">
            <a:off x="2476500" y="2562225"/>
            <a:ext cx="1238250" cy="0"/>
          </a:xfrm>
          <a:prstGeom xmlns:a="http://schemas.openxmlformats.org/drawingml/2006/main" prst="straightConnector1">
            <a:avLst/>
          </a:prstGeom>
          <a:ln xmlns:a="http://schemas.openxmlformats.org/drawingml/2006/main" w="19050">
            <a:solidFill>
              <a:srgbClr val="00837D"/>
            </a:solidFill>
            <a:tailEnd type="none" w="med" len="med"/>
          </a:ln>
        </p:spPr>
      </p:cxnSp>
      <p:sp>
        <p:nvSpPr>
          <p:cNvPr id="27" name="">
            <a:extLst xmlns:a="http://schemas.openxmlformats.org/drawingml/2006/main">
              <a:ext uri="{FF2B5EF4-FFF2-40B4-BE49-F238E27FC236}">
                <a16:creationId xmlns:a16="http://schemas.microsoft.com/office/drawing/2014/main" id="{2BD68B0B-3849-409F-8887-515CB7D42CAA}"/>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Kiến trúc mạng trên cùng bốn VPC</a:t>
            </a:r>
          </a:p>
        </p:txBody>
      </p:sp>
      <p:sp>
        <p:nvSpPr>
          <p:cNvPr id="2" name="">
            <a:extLst xmlns:a="http://schemas.openxmlformats.org/drawingml/2006/main">
              <a:ext uri="{FF2B5EF4-FFF2-40B4-BE49-F238E27FC236}">
                <a16:creationId xmlns:a16="http://schemas.microsoft.com/office/drawing/2014/main" id="{A70DA694-171B-42F6-A6D8-402F72AEFE7D}"/>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C02C326-B889-4B9E-855C-9EE0B0096352}"/>
              </a:ext>
            </a:extLst>
          </p:cNvPr>
          <p:cNvSpPr>
            <a:spLocks xmlns:a="http://schemas.openxmlformats.org/drawingml/2006/main" noGrp="1"/>
          </p:cNvSpPr>
          <p:nvPr/>
        </p:nvSpPr>
        <p:spPr>
          <a:xfrm xmlns:a="http://schemas.openxmlformats.org/drawingml/2006/main">
            <a:off x="609600" y="128587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837D"/>
                </a:solidFill>
                <a:latin typeface="Arial"/>
                <a:ea typeface="Arial"/>
                <a:cs typeface="Arial"/>
              </a:defRPr>
            </a:defPPr>
          </a:lstStyle>
          <a:p xmlns:a="http://schemas.openxmlformats.org/drawingml/2006/main">
            <a:pPr algn="l">
              <a:defRPr sz="2325" b="1">
                <a:solidFill>
                  <a:srgbClr val="00837D"/>
                </a:solidFill>
                <a:latin typeface="Arial"/>
                <a:ea typeface="Arial"/>
                <a:cs typeface="Arial"/>
              </a:defRPr>
            </a:pPr>
            <a:r>
              <a:rPr sz="2325" b="1">
                <a:solidFill>
                  <a:srgbClr val="00837D"/>
                </a:solidFill>
                <a:latin typeface="Arial"/>
                <a:ea typeface="Arial"/>
                <a:cs typeface="Arial"/>
              </a:rPr>
              <a:t>VPC Peering full mesh</a:t>
            </a:r>
          </a:p>
        </p:txBody>
      </p:sp>
      <p:sp>
        <p:nvSpPr>
          <p:cNvPr id="4" name="">
            <a:extLst xmlns:a="http://schemas.openxmlformats.org/drawingml/2006/main">
              <a:ext uri="{FF2B5EF4-FFF2-40B4-BE49-F238E27FC236}">
                <a16:creationId xmlns:a16="http://schemas.microsoft.com/office/drawing/2014/main" id="{D41C1472-97CD-4632-903C-0DAA45BE7BD2}"/>
              </a:ext>
            </a:extLst>
          </p:cNvPr>
          <p:cNvSpPr>
            <a:spLocks xmlns:a="http://schemas.openxmlformats.org/drawingml/2006/main" noGrp="1"/>
          </p:cNvSpPr>
          <p:nvPr/>
        </p:nvSpPr>
        <p:spPr>
          <a:xfrm xmlns:a="http://schemas.openxmlformats.org/drawingml/2006/main">
            <a:off x="809625" y="2190750"/>
            <a:ext cx="16668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0837D"/>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VPC A</a:t>
            </a:r>
          </a:p>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EC2 A</a:t>
            </a:r>
          </a:p>
        </p:txBody>
      </p:sp>
      <p:sp>
        <p:nvSpPr>
          <p:cNvPr id="5" name="">
            <a:extLst xmlns:a="http://schemas.openxmlformats.org/drawingml/2006/main">
              <a:ext uri="{FF2B5EF4-FFF2-40B4-BE49-F238E27FC236}">
                <a16:creationId xmlns:a16="http://schemas.microsoft.com/office/drawing/2014/main" id="{B468D649-0149-4D9E-9C9D-940CD65FE1D6}"/>
              </a:ext>
            </a:extLst>
          </p:cNvPr>
          <p:cNvSpPr>
            <a:spLocks xmlns:a="http://schemas.openxmlformats.org/drawingml/2006/main" noGrp="1"/>
          </p:cNvSpPr>
          <p:nvPr/>
        </p:nvSpPr>
        <p:spPr>
          <a:xfrm xmlns:a="http://schemas.openxmlformats.org/drawingml/2006/main">
            <a:off x="3714750" y="2190750"/>
            <a:ext cx="16668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0837D"/>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VPC B</a:t>
            </a:r>
          </a:p>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EC2 B</a:t>
            </a:r>
          </a:p>
        </p:txBody>
      </p:sp>
      <p:sp>
        <p:nvSpPr>
          <p:cNvPr id="6" name="">
            <a:extLst xmlns:a="http://schemas.openxmlformats.org/drawingml/2006/main">
              <a:ext uri="{FF2B5EF4-FFF2-40B4-BE49-F238E27FC236}">
                <a16:creationId xmlns:a16="http://schemas.microsoft.com/office/drawing/2014/main" id="{EAD35267-C772-4D52-96CD-7826D866C120}"/>
              </a:ext>
            </a:extLst>
          </p:cNvPr>
          <p:cNvSpPr>
            <a:spLocks xmlns:a="http://schemas.openxmlformats.org/drawingml/2006/main" noGrp="1"/>
          </p:cNvSpPr>
          <p:nvPr/>
        </p:nvSpPr>
        <p:spPr>
          <a:xfrm xmlns:a="http://schemas.openxmlformats.org/drawingml/2006/main">
            <a:off x="809625" y="4429125"/>
            <a:ext cx="16668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0837D"/>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VPC C</a:t>
            </a:r>
          </a:p>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EC2 C</a:t>
            </a:r>
          </a:p>
        </p:txBody>
      </p:sp>
      <p:sp>
        <p:nvSpPr>
          <p:cNvPr id="7" name="">
            <a:extLst xmlns:a="http://schemas.openxmlformats.org/drawingml/2006/main">
              <a:ext uri="{FF2B5EF4-FFF2-40B4-BE49-F238E27FC236}">
                <a16:creationId xmlns:a16="http://schemas.microsoft.com/office/drawing/2014/main" id="{8AF27879-74E1-48E4-B44A-55DE065F4833}"/>
              </a:ext>
            </a:extLst>
          </p:cNvPr>
          <p:cNvSpPr>
            <a:spLocks xmlns:a="http://schemas.openxmlformats.org/drawingml/2006/main" noGrp="1"/>
          </p:cNvSpPr>
          <p:nvPr/>
        </p:nvSpPr>
        <p:spPr>
          <a:xfrm xmlns:a="http://schemas.openxmlformats.org/drawingml/2006/main">
            <a:off x="3714750" y="4429125"/>
            <a:ext cx="1666875"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00837D"/>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VPC D</a:t>
            </a:r>
          </a:p>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EC2 D</a:t>
            </a:r>
          </a:p>
        </p:txBody>
      </p:sp>
      <p:sp>
        <p:nvSpPr>
          <p:cNvPr id="14" name="">
            <a:extLst xmlns:a="http://schemas.openxmlformats.org/drawingml/2006/main">
              <a:ext uri="{FF2B5EF4-FFF2-40B4-BE49-F238E27FC236}">
                <a16:creationId xmlns:a16="http://schemas.microsoft.com/office/drawing/2014/main" id="{5A1823FB-9E5D-4E3B-8248-EED8B1984C90}"/>
              </a:ext>
            </a:extLst>
          </p:cNvPr>
          <p:cNvSpPr>
            <a:spLocks xmlns:a="http://schemas.openxmlformats.org/drawingml/2006/main" noGrp="1"/>
          </p:cNvSpPr>
          <p:nvPr/>
        </p:nvSpPr>
        <p:spPr>
          <a:xfrm xmlns:a="http://schemas.openxmlformats.org/drawingml/2006/main">
            <a:off x="1285875" y="54768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00837D"/>
                </a:solidFill>
                <a:latin typeface="Arial"/>
                <a:ea typeface="Arial"/>
                <a:cs typeface="Arial"/>
              </a:defRPr>
            </a:defPPr>
          </a:lstStyle>
          <a:p xmlns:a="http://schemas.openxmlformats.org/drawingml/2006/main">
            <a:pPr algn="ctr">
              <a:defRPr sz="2175" b="1">
                <a:solidFill>
                  <a:srgbClr val="00837D"/>
                </a:solidFill>
                <a:latin typeface="Arial"/>
                <a:ea typeface="Arial"/>
                <a:cs typeface="Arial"/>
              </a:defRPr>
            </a:pPr>
            <a:r>
              <a:rPr sz="2175" b="1">
                <a:solidFill>
                  <a:srgbClr val="00837D"/>
                </a:solidFill>
                <a:latin typeface="Arial"/>
                <a:ea typeface="Arial"/>
                <a:cs typeface="Arial"/>
              </a:rPr>
              <a:t>6 kết nối cặp</a:t>
            </a:r>
          </a:p>
        </p:txBody>
      </p:sp>
      <p:sp>
        <p:nvSpPr>
          <p:cNvPr id="15" name="">
            <a:extLst xmlns:a="http://schemas.openxmlformats.org/drawingml/2006/main">
              <a:ext uri="{FF2B5EF4-FFF2-40B4-BE49-F238E27FC236}">
                <a16:creationId xmlns:a16="http://schemas.microsoft.com/office/drawing/2014/main" id="{A4795063-5BCE-40CB-B534-73968C3F0B6D}"/>
              </a:ext>
            </a:extLst>
          </p:cNvPr>
          <p:cNvSpPr>
            <a:spLocks xmlns:a="http://schemas.openxmlformats.org/drawingml/2006/main" noGrp="1"/>
          </p:cNvSpPr>
          <p:nvPr/>
        </p:nvSpPr>
        <p:spPr>
          <a:xfrm xmlns:a="http://schemas.openxmlformats.org/drawingml/2006/main">
            <a:off x="6477000" y="12858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D86A24"/>
                </a:solidFill>
                <a:latin typeface="Arial"/>
                <a:ea typeface="Arial"/>
                <a:cs typeface="Arial"/>
              </a:defRPr>
            </a:defPPr>
          </a:lstStyle>
          <a:p xmlns:a="http://schemas.openxmlformats.org/drawingml/2006/main">
            <a:pPr algn="l">
              <a:defRPr sz="2325" b="1">
                <a:solidFill>
                  <a:srgbClr val="D86A24"/>
                </a:solidFill>
                <a:latin typeface="Arial"/>
                <a:ea typeface="Arial"/>
                <a:cs typeface="Arial"/>
              </a:defRPr>
            </a:pPr>
            <a:r>
              <a:rPr sz="2325" b="1">
                <a:solidFill>
                  <a:srgbClr val="D86A24"/>
                </a:solidFill>
                <a:latin typeface="Arial"/>
                <a:ea typeface="Arial"/>
                <a:cs typeface="Arial"/>
              </a:rPr>
              <a:t>Transit Gateway</a:t>
            </a:r>
          </a:p>
        </p:txBody>
      </p:sp>
      <p:sp>
        <p:nvSpPr>
          <p:cNvPr id="16" name="">
            <a:extLst xmlns:a="http://schemas.openxmlformats.org/drawingml/2006/main">
              <a:ext uri="{FF2B5EF4-FFF2-40B4-BE49-F238E27FC236}">
                <a16:creationId xmlns:a16="http://schemas.microsoft.com/office/drawing/2014/main" id="{3043CE54-CD9B-40BF-B738-BF4CF5C634BC}"/>
              </a:ext>
            </a:extLst>
          </p:cNvPr>
          <p:cNvSpPr>
            <a:spLocks xmlns:a="http://schemas.openxmlformats.org/drawingml/2006/main" noGrp="1"/>
          </p:cNvSpPr>
          <p:nvPr/>
        </p:nvSpPr>
        <p:spPr>
          <a:xfrm xmlns:a="http://schemas.openxmlformats.org/drawingml/2006/main">
            <a:off x="6572250" y="2190750"/>
            <a:ext cx="15240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D86A24"/>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VPC A</a:t>
            </a:r>
          </a:p>
        </p:txBody>
      </p:sp>
      <p:sp>
        <p:nvSpPr>
          <p:cNvPr id="17" name="">
            <a:extLst xmlns:a="http://schemas.openxmlformats.org/drawingml/2006/main">
              <a:ext uri="{FF2B5EF4-FFF2-40B4-BE49-F238E27FC236}">
                <a16:creationId xmlns:a16="http://schemas.microsoft.com/office/drawing/2014/main" id="{EBDF5F69-9A1B-4462-B078-2C5506165E76}"/>
              </a:ext>
            </a:extLst>
          </p:cNvPr>
          <p:cNvSpPr>
            <a:spLocks xmlns:a="http://schemas.openxmlformats.org/drawingml/2006/main" noGrp="1"/>
          </p:cNvSpPr>
          <p:nvPr/>
        </p:nvSpPr>
        <p:spPr>
          <a:xfrm xmlns:a="http://schemas.openxmlformats.org/drawingml/2006/main">
            <a:off x="9953625" y="2190750"/>
            <a:ext cx="15240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D86A24"/>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VPC B</a:t>
            </a:r>
          </a:p>
        </p:txBody>
      </p:sp>
      <p:sp>
        <p:nvSpPr>
          <p:cNvPr id="18" name="">
            <a:extLst xmlns:a="http://schemas.openxmlformats.org/drawingml/2006/main">
              <a:ext uri="{FF2B5EF4-FFF2-40B4-BE49-F238E27FC236}">
                <a16:creationId xmlns:a16="http://schemas.microsoft.com/office/drawing/2014/main" id="{80BCDB17-C169-439D-A9B3-8DED035EEC3E}"/>
              </a:ext>
            </a:extLst>
          </p:cNvPr>
          <p:cNvSpPr>
            <a:spLocks xmlns:a="http://schemas.openxmlformats.org/drawingml/2006/main" noGrp="1"/>
          </p:cNvSpPr>
          <p:nvPr/>
        </p:nvSpPr>
        <p:spPr>
          <a:xfrm xmlns:a="http://schemas.openxmlformats.org/drawingml/2006/main">
            <a:off x="6572250" y="4429125"/>
            <a:ext cx="15240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D86A24"/>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VPC C</a:t>
            </a:r>
          </a:p>
        </p:txBody>
      </p:sp>
      <p:sp>
        <p:nvSpPr>
          <p:cNvPr id="19" name="">
            <a:extLst xmlns:a="http://schemas.openxmlformats.org/drawingml/2006/main">
              <a:ext uri="{FF2B5EF4-FFF2-40B4-BE49-F238E27FC236}">
                <a16:creationId xmlns:a16="http://schemas.microsoft.com/office/drawing/2014/main" id="{01971F21-5450-42A1-9FB3-7FA74A81BDED}"/>
              </a:ext>
            </a:extLst>
          </p:cNvPr>
          <p:cNvSpPr>
            <a:spLocks xmlns:a="http://schemas.openxmlformats.org/drawingml/2006/main" noGrp="1"/>
          </p:cNvSpPr>
          <p:nvPr/>
        </p:nvSpPr>
        <p:spPr>
          <a:xfrm xmlns:a="http://schemas.openxmlformats.org/drawingml/2006/main">
            <a:off x="9953625" y="4429125"/>
            <a:ext cx="15240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D86A24"/>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VPC D</a:t>
            </a:r>
          </a:p>
        </p:txBody>
      </p:sp>
      <p:sp>
        <p:nvSpPr>
          <p:cNvPr id="20" name="">
            <a:extLst xmlns:a="http://schemas.openxmlformats.org/drawingml/2006/main">
              <a:ext uri="{FF2B5EF4-FFF2-40B4-BE49-F238E27FC236}">
                <a16:creationId xmlns:a16="http://schemas.microsoft.com/office/drawing/2014/main" id="{E3A92B92-7355-4D0D-A2DD-C507C186E727}"/>
              </a:ext>
            </a:extLst>
          </p:cNvPr>
          <p:cNvSpPr>
            <a:spLocks xmlns:a="http://schemas.openxmlformats.org/drawingml/2006/main" noGrp="1"/>
          </p:cNvSpPr>
          <p:nvPr/>
        </p:nvSpPr>
        <p:spPr>
          <a:xfrm xmlns:a="http://schemas.openxmlformats.org/drawingml/2006/main">
            <a:off x="8439150" y="3286125"/>
            <a:ext cx="1190625"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D86A24"/>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TGW</a:t>
            </a:r>
          </a:p>
        </p:txBody>
      </p:sp>
      <p:sp>
        <p:nvSpPr>
          <p:cNvPr id="25" name="">
            <a:extLst xmlns:a="http://schemas.openxmlformats.org/drawingml/2006/main">
              <a:ext uri="{FF2B5EF4-FFF2-40B4-BE49-F238E27FC236}">
                <a16:creationId xmlns:a16="http://schemas.microsoft.com/office/drawing/2014/main" id="{F6E8B4B1-07A8-45B6-B4C4-7D56F04264D5}"/>
              </a:ext>
            </a:extLst>
          </p:cNvPr>
          <p:cNvSpPr>
            <a:spLocks xmlns:a="http://schemas.openxmlformats.org/drawingml/2006/main" noGrp="1"/>
          </p:cNvSpPr>
          <p:nvPr/>
        </p:nvSpPr>
        <p:spPr>
          <a:xfrm xmlns:a="http://schemas.openxmlformats.org/drawingml/2006/main">
            <a:off x="7239000" y="54768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D86A24"/>
                </a:solidFill>
                <a:latin typeface="Arial"/>
                <a:ea typeface="Arial"/>
                <a:cs typeface="Arial"/>
              </a:defRPr>
            </a:defPPr>
          </a:lstStyle>
          <a:p xmlns:a="http://schemas.openxmlformats.org/drawingml/2006/main">
            <a:pPr algn="ctr">
              <a:defRPr sz="2175" b="1">
                <a:solidFill>
                  <a:srgbClr val="D86A24"/>
                </a:solidFill>
                <a:latin typeface="Arial"/>
                <a:ea typeface="Arial"/>
                <a:cs typeface="Arial"/>
              </a:defRPr>
            </a:pPr>
            <a:r>
              <a:rPr sz="2175" b="1">
                <a:solidFill>
                  <a:srgbClr val="D86A24"/>
                </a:solidFill>
                <a:latin typeface="Arial"/>
                <a:ea typeface="Arial"/>
                <a:cs typeface="Arial"/>
              </a:rPr>
              <a:t>1 hub, 4 attachment</a:t>
            </a:r>
          </a:p>
        </p:txBody>
      </p:sp>
      <p:sp>
        <p:nvSpPr>
          <p:cNvPr id="26" name="">
            <a:extLst xmlns:a="http://schemas.openxmlformats.org/drawingml/2006/main">
              <a:ext uri="{FF2B5EF4-FFF2-40B4-BE49-F238E27FC236}">
                <a16:creationId xmlns:a16="http://schemas.microsoft.com/office/drawing/2014/main" id="{65883511-5F6B-482F-B813-F82F16AB8D5C}"/>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Cùng bốn EC2. Đổi đích route để chọn mode. IP private cho phép đo, EIP cho SSH.</a:t>
            </a:r>
          </a:p>
        </p:txBody>
      </p:sp>
    </p:spTree>
    <p:extLst>
      <p:ext uri="{BB962C8B-B14F-4D97-AF65-F5344CB8AC3E}">
        <p14:creationId xmlns:p14="http://schemas.microsoft.com/office/powerpoint/2010/main" val="13051294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DAFA1F24-2015-437A-A7C9-632D73C13AF1}"/>
              </a:ext>
            </a:extLst>
          </p:cNvPr>
          <p:cNvCxnSpPr>
            <a:stCxn xmlns:a="http://schemas.openxmlformats.org/drawingml/2006/main" id="4" idx="3"/>
            <a:endCxn xmlns:a="http://schemas.openxmlformats.org/drawingml/2006/main" id="6" idx="1"/>
          </p:cNvCxnSpPr>
          <p:nvPr/>
        </p:nvCxnSpPr>
        <p:spPr>
          <a:xfrm xmlns:a="http://schemas.openxmlformats.org/drawingml/2006/main">
            <a:off x="5048250" y="3571875"/>
            <a:ext cx="1809750" cy="1333500"/>
          </a:xfrm>
          <a:prstGeom xmlns:a="http://schemas.openxmlformats.org/drawingml/2006/main" prst="bentConnector3">
            <a:avLst>
              <a:gd name="adj1" fmla="val 50000"/>
            </a:avLst>
          </a:prstGeom>
          <a:ln xmlns:a="http://schemas.openxmlformats.org/drawingml/2006/main" w="19050">
            <a:solidFill>
              <a:srgbClr val="00837D"/>
            </a:solidFill>
            <a:tailEnd type="arrow" w="med" len="med"/>
          </a:ln>
        </p:spPr>
      </p:cxnSp>
      <p:cxnSp>
        <p:nvCxnSpPr>
          <p:cNvPr id="8" name="">
            <a:extLst xmlns:a="http://schemas.openxmlformats.org/drawingml/2006/main">
              <a:ext uri="{FF2B5EF4-FFF2-40B4-BE49-F238E27FC236}">
                <a16:creationId xmlns:a16="http://schemas.microsoft.com/office/drawing/2014/main" id="{FDEF0446-618D-4D37-860A-B1C90727E718}"/>
              </a:ext>
            </a:extLst>
          </p:cNvPr>
          <p:cNvCxnSpPr>
            <a:stCxn xmlns:a="http://schemas.openxmlformats.org/drawingml/2006/main" id="4" idx="3"/>
            <a:endCxn xmlns:a="http://schemas.openxmlformats.org/drawingml/2006/main" id="5" idx="1"/>
          </p:cNvCxnSpPr>
          <p:nvPr/>
        </p:nvCxnSpPr>
        <p:spPr>
          <a:xfrm xmlns:a="http://schemas.openxmlformats.org/drawingml/2006/main" flipV="1">
            <a:off x="5048250" y="2476500"/>
            <a:ext cx="1809750" cy="1095375"/>
          </a:xfrm>
          <a:prstGeom xmlns:a="http://schemas.openxmlformats.org/drawingml/2006/main" prst="bentConnector3">
            <a:avLst>
              <a:gd name="adj1" fmla="val 50000"/>
            </a:avLst>
          </a:prstGeom>
          <a:ln xmlns:a="http://schemas.openxmlformats.org/drawingml/2006/main" w="19050">
            <a:solidFill>
              <a:srgbClr val="00837D"/>
            </a:solidFill>
            <a:tailEnd type="arrow" w="med" len="med"/>
          </a:ln>
        </p:spPr>
      </p:cxnSp>
      <p:cxnSp>
        <p:nvCxnSpPr>
          <p:cNvPr id="7" name="">
            <a:extLst xmlns:a="http://schemas.openxmlformats.org/drawingml/2006/main">
              <a:ext uri="{FF2B5EF4-FFF2-40B4-BE49-F238E27FC236}">
                <a16:creationId xmlns:a16="http://schemas.microsoft.com/office/drawing/2014/main" id="{F2C0164F-E6E8-4757-8DFF-69DAF85E4032}"/>
              </a:ext>
            </a:extLst>
          </p:cNvPr>
          <p:cNvCxnSpPr>
            <a:stCxn xmlns:a="http://schemas.openxmlformats.org/drawingml/2006/main" id="3" idx="3"/>
            <a:endCxn xmlns:a="http://schemas.openxmlformats.org/drawingml/2006/main" id="4" idx="1"/>
          </p:cNvCxnSpPr>
          <p:nvPr/>
        </p:nvCxnSpPr>
        <p:spPr>
          <a:xfrm xmlns:a="http://schemas.openxmlformats.org/drawingml/2006/main">
            <a:off x="2371725" y="3571875"/>
            <a:ext cx="771525" cy="0"/>
          </a:xfrm>
          <a:prstGeom xmlns:a="http://schemas.openxmlformats.org/drawingml/2006/main" prst="straightConnector1">
            <a:avLst/>
          </a:prstGeom>
          <a:ln xmlns:a="http://schemas.openxmlformats.org/drawingml/2006/main" w="19050">
            <a:solidFill>
              <a:srgbClr val="00837D"/>
            </a:solidFill>
            <a:tailEnd type="arrow" w="med" len="med"/>
          </a:ln>
        </p:spPr>
      </p:cxnSp>
      <p:sp>
        <p:nvSpPr>
          <p:cNvPr id="15" name="">
            <a:extLst xmlns:a="http://schemas.openxmlformats.org/drawingml/2006/main">
              <a:ext uri="{FF2B5EF4-FFF2-40B4-BE49-F238E27FC236}">
                <a16:creationId xmlns:a16="http://schemas.microsoft.com/office/drawing/2014/main" id="{159CC912-D816-4EB9-9C75-667FADAB736A}"/>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Ứng dụng gọi hai worker song song</a:t>
            </a:r>
          </a:p>
        </p:txBody>
      </p:sp>
      <p:sp>
        <p:nvSpPr>
          <p:cNvPr id="2" name="">
            <a:extLst xmlns:a="http://schemas.openxmlformats.org/drawingml/2006/main">
              <a:ext uri="{FF2B5EF4-FFF2-40B4-BE49-F238E27FC236}">
                <a16:creationId xmlns:a16="http://schemas.microsoft.com/office/drawing/2014/main" id="{AFA19DFB-703E-4C72-8A0E-31589D6D8EF3}"/>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517B81C-204D-4CC5-B348-FF35F6F0D4F0}"/>
              </a:ext>
            </a:extLst>
          </p:cNvPr>
          <p:cNvSpPr>
            <a:spLocks xmlns:a="http://schemas.openxmlformats.org/drawingml/2006/main" noGrp="1"/>
          </p:cNvSpPr>
          <p:nvPr/>
        </p:nvSpPr>
        <p:spPr>
          <a:xfrm xmlns:a="http://schemas.openxmlformats.org/drawingml/2006/main">
            <a:off x="609600" y="3143250"/>
            <a:ext cx="176212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837D"/>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A</a:t>
            </a:r>
          </a:p>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Tạo tải</a:t>
            </a:r>
          </a:p>
        </p:txBody>
      </p:sp>
      <p:sp>
        <p:nvSpPr>
          <p:cNvPr id="4" name="">
            <a:extLst xmlns:a="http://schemas.openxmlformats.org/drawingml/2006/main">
              <a:ext uri="{FF2B5EF4-FFF2-40B4-BE49-F238E27FC236}">
                <a16:creationId xmlns:a16="http://schemas.microsoft.com/office/drawing/2014/main" id="{724C123C-F4FB-4B24-A3DD-F0C766F66CA7}"/>
              </a:ext>
            </a:extLst>
          </p:cNvPr>
          <p:cNvSpPr>
            <a:spLocks xmlns:a="http://schemas.openxmlformats.org/drawingml/2006/main" noGrp="1"/>
          </p:cNvSpPr>
          <p:nvPr/>
        </p:nvSpPr>
        <p:spPr>
          <a:xfrm xmlns:a="http://schemas.openxmlformats.org/drawingml/2006/main">
            <a:off x="3143250" y="3143250"/>
            <a:ext cx="1905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837D"/>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B</a:t>
            </a:r>
          </a:p>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Gateway</a:t>
            </a:r>
          </a:p>
        </p:txBody>
      </p:sp>
      <p:sp>
        <p:nvSpPr>
          <p:cNvPr id="5" name="">
            <a:extLst xmlns:a="http://schemas.openxmlformats.org/drawingml/2006/main">
              <a:ext uri="{FF2B5EF4-FFF2-40B4-BE49-F238E27FC236}">
                <a16:creationId xmlns:a16="http://schemas.microsoft.com/office/drawing/2014/main" id="{202A18B9-069E-492D-9795-4EF4D06720DE}"/>
              </a:ext>
            </a:extLst>
          </p:cNvPr>
          <p:cNvSpPr>
            <a:spLocks xmlns:a="http://schemas.openxmlformats.org/drawingml/2006/main" noGrp="1"/>
          </p:cNvSpPr>
          <p:nvPr/>
        </p:nvSpPr>
        <p:spPr>
          <a:xfrm xmlns:a="http://schemas.openxmlformats.org/drawingml/2006/main">
            <a:off x="6858000" y="2047875"/>
            <a:ext cx="195262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837D"/>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C</a:t>
            </a:r>
          </a:p>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Worker</a:t>
            </a:r>
          </a:p>
        </p:txBody>
      </p:sp>
      <p:sp>
        <p:nvSpPr>
          <p:cNvPr id="6" name="">
            <a:extLst xmlns:a="http://schemas.openxmlformats.org/drawingml/2006/main">
              <a:ext uri="{FF2B5EF4-FFF2-40B4-BE49-F238E27FC236}">
                <a16:creationId xmlns:a16="http://schemas.microsoft.com/office/drawing/2014/main" id="{BE8746F9-3400-47DC-B040-A3933CD2EF36}"/>
              </a:ext>
            </a:extLst>
          </p:cNvPr>
          <p:cNvSpPr>
            <a:spLocks xmlns:a="http://schemas.openxmlformats.org/drawingml/2006/main" noGrp="1"/>
          </p:cNvSpPr>
          <p:nvPr/>
        </p:nvSpPr>
        <p:spPr>
          <a:xfrm xmlns:a="http://schemas.openxmlformats.org/drawingml/2006/main">
            <a:off x="6858000" y="4476750"/>
            <a:ext cx="195262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837D"/>
            </a:solidFill>
          </a:ln>
        </p:spPr>
        <p:txBody>
          <a:bodyPr xmlns:a="http://schemas.openxmlformats.org/drawingml/2006/main" lIns="57150" tIns="57150" rIns="57150" bIns="57150" anchor="ctr"/>
          <a:lstStyle xmlns:a="http://schemas.openxmlformats.org/drawingml/2006/main">
            <a:defPPr algn="ctr">
              <a:defRPr sz="1800" b="1">
                <a:solidFill>
                  <a:srgbClr val="132D46"/>
                </a:solidFill>
                <a:latin typeface="Arial"/>
                <a:ea typeface="Arial"/>
                <a:cs typeface="Arial"/>
              </a:defRPr>
            </a:defPPr>
          </a:lstStyle>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D</a:t>
            </a:r>
          </a:p>
          <a:p xmlns:a="http://schemas.openxmlformats.org/drawingml/2006/main">
            <a:pPr algn="ctr">
              <a:defRPr sz="1800" b="1">
                <a:solidFill>
                  <a:srgbClr val="132D46"/>
                </a:solidFill>
                <a:latin typeface="Arial"/>
                <a:ea typeface="Arial"/>
                <a:cs typeface="Arial"/>
              </a:defRPr>
            </a:pPr>
            <a:r>
              <a:rPr sz="1800" b="1">
                <a:solidFill>
                  <a:srgbClr val="132D46"/>
                </a:solidFill>
                <a:latin typeface="Arial"/>
                <a:ea typeface="Arial"/>
                <a:cs typeface="Arial"/>
              </a:rPr>
              <a:t>Worker</a:t>
            </a:r>
          </a:p>
        </p:txBody>
      </p:sp>
      <p:sp>
        <p:nvSpPr>
          <p:cNvPr id="10" name="">
            <a:extLst xmlns:a="http://schemas.openxmlformats.org/drawingml/2006/main">
              <a:ext uri="{FF2B5EF4-FFF2-40B4-BE49-F238E27FC236}">
                <a16:creationId xmlns:a16="http://schemas.microsoft.com/office/drawing/2014/main" id="{D2B4378B-0FE5-4481-9A23-5C70BC8A926D}"/>
              </a:ext>
            </a:extLst>
          </p:cNvPr>
          <p:cNvSpPr>
            <a:spLocks xmlns:a="http://schemas.openxmlformats.org/drawingml/2006/main" noGrp="1"/>
          </p:cNvSpPr>
          <p:nvPr/>
        </p:nvSpPr>
        <p:spPr>
          <a:xfrm xmlns:a="http://schemas.openxmlformats.org/drawingml/2006/main">
            <a:off x="2438400" y="2781300"/>
            <a:ext cx="100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F6171"/>
                </a:solidFill>
                <a:latin typeface="Arial"/>
                <a:ea typeface="Arial"/>
                <a:cs typeface="Arial"/>
              </a:defRPr>
            </a:defPPr>
          </a:lstStyle>
          <a:p xmlns:a="http://schemas.openxmlformats.org/drawingml/2006/main">
            <a:pPr algn="l">
              <a:defRPr sz="1725" b="0">
                <a:solidFill>
                  <a:srgbClr val="4F6171"/>
                </a:solidFill>
                <a:latin typeface="Arial"/>
                <a:ea typeface="Arial"/>
                <a:cs typeface="Arial"/>
              </a:defRPr>
            </a:pPr>
            <a:r>
              <a:rPr sz="1725" b="0">
                <a:solidFill>
                  <a:srgbClr val="4F6171"/>
                </a:solidFill>
                <a:latin typeface="Arial"/>
                <a:ea typeface="Arial"/>
                <a:cs typeface="Arial"/>
              </a:rPr>
              <a:t>HTTP</a:t>
            </a:r>
          </a:p>
        </p:txBody>
      </p:sp>
      <p:sp>
        <p:nvSpPr>
          <p:cNvPr id="11" name="">
            <a:extLst xmlns:a="http://schemas.openxmlformats.org/drawingml/2006/main">
              <a:ext uri="{FF2B5EF4-FFF2-40B4-BE49-F238E27FC236}">
                <a16:creationId xmlns:a16="http://schemas.microsoft.com/office/drawing/2014/main" id="{64C0AC14-646D-4A28-97D5-E3036AE76425}"/>
              </a:ext>
            </a:extLst>
          </p:cNvPr>
          <p:cNvSpPr>
            <a:spLocks xmlns:a="http://schemas.openxmlformats.org/drawingml/2006/main" noGrp="1"/>
          </p:cNvSpPr>
          <p:nvPr/>
        </p:nvSpPr>
        <p:spPr>
          <a:xfrm xmlns:a="http://schemas.openxmlformats.org/drawingml/2006/main">
            <a:off x="5429250" y="142875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D46"/>
                </a:solidFill>
                <a:latin typeface="Arial"/>
                <a:ea typeface="Arial"/>
                <a:cs typeface="Arial"/>
              </a:defRPr>
            </a:defPPr>
          </a:lstStyle>
          <a:p xmlns:a="http://schemas.openxmlformats.org/drawingml/2006/main">
            <a:pPr algn="l">
              <a:defRPr sz="2175" b="1">
                <a:solidFill>
                  <a:srgbClr val="132D46"/>
                </a:solidFill>
                <a:latin typeface="Arial"/>
                <a:ea typeface="Arial"/>
                <a:cs typeface="Arial"/>
              </a:defRPr>
            </a:pPr>
            <a:r>
              <a:rPr sz="2175" b="1">
                <a:solidFill>
                  <a:srgbClr val="132D46"/>
                </a:solidFill>
                <a:latin typeface="Arial"/>
                <a:ea typeface="Arial"/>
                <a:cs typeface="Arial"/>
              </a:rPr>
              <a:t>Hai lời gọi song song</a:t>
            </a:r>
          </a:p>
        </p:txBody>
      </p:sp>
      <p:sp>
        <p:nvSpPr>
          <p:cNvPr id="12" name="">
            <a:extLst xmlns:a="http://schemas.openxmlformats.org/drawingml/2006/main">
              <a:ext uri="{FF2B5EF4-FFF2-40B4-BE49-F238E27FC236}">
                <a16:creationId xmlns:a16="http://schemas.microsoft.com/office/drawing/2014/main" id="{0363498B-6DFB-4701-A4E5-D82685F5738F}"/>
              </a:ext>
            </a:extLst>
          </p:cNvPr>
          <p:cNvSpPr>
            <a:spLocks xmlns:a="http://schemas.openxmlformats.org/drawingml/2006/main" noGrp="1"/>
          </p:cNvSpPr>
          <p:nvPr/>
        </p:nvSpPr>
        <p:spPr>
          <a:xfrm xmlns:a="http://schemas.openxmlformats.org/drawingml/2006/main">
            <a:off x="9286875" y="2333625"/>
            <a:ext cx="2333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32D46"/>
                </a:solidFill>
                <a:latin typeface="Arial"/>
                <a:ea typeface="Arial"/>
                <a:cs typeface="Arial"/>
              </a:defRPr>
            </a:defPPr>
          </a:lstStyle>
          <a:p xmlns:a="http://schemas.openxmlformats.org/drawingml/2006/main">
            <a:pPr algn="l">
              <a:defRPr sz="1875" b="0">
                <a:solidFill>
                  <a:srgbClr val="132D46"/>
                </a:solidFill>
                <a:latin typeface="Arial"/>
                <a:ea typeface="Arial"/>
                <a:cs typeface="Arial"/>
              </a:defRPr>
            </a:pPr>
            <a:r>
              <a:rPr sz="1875" b="0">
                <a:solidFill>
                  <a:srgbClr val="132D46"/>
                </a:solidFill>
                <a:latin typeface="Arial"/>
                <a:ea typeface="Arial"/>
                <a:cs typeface="Arial"/>
              </a:rPr>
              <a:t>Hàng đợi trước slots</a:t>
            </a:r>
          </a:p>
          <a:p xmlns:a="http://schemas.openxmlformats.org/drawingml/2006/main">
            <a:pPr algn="l">
              <a:defRPr sz="1875" b="0">
                <a:solidFill>
                  <a:srgbClr val="132D46"/>
                </a:solidFill>
                <a:latin typeface="Arial"/>
                <a:ea typeface="Arial"/>
                <a:cs typeface="Arial"/>
              </a:defRPr>
            </a:pPr>
            <a:r>
              <a:rPr sz="1875" b="0">
                <a:solidFill>
                  <a:srgbClr val="132D46"/>
                </a:solidFill>
                <a:latin typeface="Arial"/>
                <a:ea typeface="Arial"/>
                <a:cs typeface="Arial"/>
              </a:rPr>
              <a:t>8 hoặc 16 lời gọi</a:t>
            </a:r>
          </a:p>
          <a:p xmlns:a="http://schemas.openxmlformats.org/drawingml/2006/main">
            <a:pPr algn="l">
              <a:defRPr sz="1875" b="0">
                <a:solidFill>
                  <a:srgbClr val="132D46"/>
                </a:solidFill>
                <a:latin typeface="Arial"/>
                <a:ea typeface="Arial"/>
                <a:cs typeface="Arial"/>
              </a:defRPr>
            </a:pPr>
            <a:r>
              <a:rPr sz="1875" b="0">
                <a:solidFill>
                  <a:srgbClr val="132D46"/>
                </a:solidFill>
                <a:latin typeface="Arial"/>
                <a:ea typeface="Arial"/>
                <a:cs typeface="Arial"/>
              </a:rPr>
              <a:t>phục vụ đồng thời</a:t>
            </a:r>
          </a:p>
        </p:txBody>
      </p:sp>
      <p:sp>
        <p:nvSpPr>
          <p:cNvPr id="13" name="">
            <a:extLst xmlns:a="http://schemas.openxmlformats.org/drawingml/2006/main">
              <a:ext uri="{FF2B5EF4-FFF2-40B4-BE49-F238E27FC236}">
                <a16:creationId xmlns:a16="http://schemas.microsoft.com/office/drawing/2014/main" id="{B3BC8D07-B457-402C-A698-99CFAD337C3C}"/>
              </a:ext>
            </a:extLst>
          </p:cNvPr>
          <p:cNvSpPr>
            <a:spLocks xmlns:a="http://schemas.openxmlformats.org/drawingml/2006/main" noGrp="1"/>
          </p:cNvSpPr>
          <p:nvPr/>
        </p:nvSpPr>
        <p:spPr>
          <a:xfrm xmlns:a="http://schemas.openxmlformats.org/drawingml/2006/main">
            <a:off x="9286875" y="4143375"/>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32D46"/>
                </a:solidFill>
                <a:latin typeface="Arial"/>
                <a:ea typeface="Arial"/>
                <a:cs typeface="Arial"/>
              </a:defRPr>
            </a:defPPr>
          </a:lstStyle>
          <a:p xmlns:a="http://schemas.openxmlformats.org/drawingml/2006/main">
            <a:pPr algn="l">
              <a:defRPr sz="1875" b="0">
                <a:solidFill>
                  <a:srgbClr val="132D46"/>
                </a:solidFill>
                <a:latin typeface="Arial"/>
                <a:ea typeface="Arial"/>
                <a:cs typeface="Arial"/>
              </a:defRPr>
            </a:pPr>
            <a:r>
              <a:rPr sz="1875" b="0">
                <a:solidFill>
                  <a:srgbClr val="132D46"/>
                </a:solidFill>
                <a:latin typeface="Arial"/>
                <a:ea typeface="Arial"/>
                <a:cs typeface="Arial"/>
              </a:rPr>
              <a:t>Mỗi worker:</a:t>
            </a:r>
          </a:p>
          <a:p xmlns:a="http://schemas.openxmlformats.org/drawingml/2006/main">
            <a:pPr algn="l">
              <a:defRPr sz="1875" b="0">
                <a:solidFill>
                  <a:srgbClr val="132D46"/>
                </a:solidFill>
                <a:latin typeface="Arial"/>
                <a:ea typeface="Arial"/>
                <a:cs typeface="Arial"/>
              </a:defRPr>
            </a:pPr>
            <a:r>
              <a:rPr sz="1875" b="0">
                <a:solidFill>
                  <a:srgbClr val="132D46"/>
                </a:solidFill>
                <a:latin typeface="Arial"/>
                <a:ea typeface="Arial"/>
                <a:cs typeface="Arial"/>
              </a:rPr>
              <a:t>I/O mô phỏng 10 ms</a:t>
            </a:r>
          </a:p>
          <a:p xmlns:a="http://schemas.openxmlformats.org/drawingml/2006/main">
            <a:pPr algn="l">
              <a:defRPr sz="1875" b="0">
                <a:solidFill>
                  <a:srgbClr val="132D46"/>
                </a:solidFill>
                <a:latin typeface="Arial"/>
                <a:ea typeface="Arial"/>
                <a:cs typeface="Arial"/>
              </a:defRPr>
            </a:pPr>
            <a:r>
              <a:rPr sz="1875" b="0">
                <a:solidFill>
                  <a:srgbClr val="132D46"/>
                </a:solidFill>
                <a:latin typeface="Arial"/>
                <a:ea typeface="Arial"/>
                <a:cs typeface="Arial"/>
              </a:rPr>
              <a:t>Phản hồi 4 KiB</a:t>
            </a:r>
          </a:p>
        </p:txBody>
      </p:sp>
      <p:sp>
        <p:nvSpPr>
          <p:cNvPr id="14" name="">
            <a:extLst xmlns:a="http://schemas.openxmlformats.org/drawingml/2006/main">
              <a:ext uri="{FF2B5EF4-FFF2-40B4-BE49-F238E27FC236}">
                <a16:creationId xmlns:a16="http://schemas.microsoft.com/office/drawing/2014/main" id="{432D2589-53FD-4C91-B4FC-1053A7E8D4CD}"/>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800 yêu cầu/s tại A tạo khoảng 800 lời gọi/s trên từng worker C và D.</a:t>
            </a:r>
          </a:p>
        </p:txBody>
      </p:sp>
    </p:spTree>
    <p:extLst>
      <p:ext uri="{BB962C8B-B14F-4D97-AF65-F5344CB8AC3E}">
        <p14:creationId xmlns:p14="http://schemas.microsoft.com/office/powerpoint/2010/main" val="13973258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767B8E-E8AA-49C2-BC90-3F3A6E5FCFB3}"/>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Thiết kế và dữ liệu đã chốt</a:t>
            </a:r>
          </a:p>
        </p:txBody>
      </p:sp>
      <p:sp>
        <p:nvSpPr>
          <p:cNvPr id="2" name="">
            <a:extLst xmlns:a="http://schemas.openxmlformats.org/drawingml/2006/main">
              <a:ext uri="{FF2B5EF4-FFF2-40B4-BE49-F238E27FC236}">
                <a16:creationId xmlns:a16="http://schemas.microsoft.com/office/drawing/2014/main" id="{CA609E9D-2CA6-49F7-B76C-83EEA5176D38}"/>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969008B-7FCE-4820-9291-B34857F5BA49}"/>
              </a:ext>
            </a:extLst>
          </p:cNvPr>
          <p:cNvSpPr>
            <a:spLocks xmlns:a="http://schemas.openxmlformats.org/drawingml/2006/main" noGrp="1"/>
          </p:cNvSpPr>
          <p:nvPr/>
        </p:nvSpPr>
        <p:spPr>
          <a:xfrm xmlns:a="http://schemas.openxmlformats.org/drawingml/2006/main">
            <a:off x="609600" y="13620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837D"/>
                </a:solidFill>
                <a:latin typeface="Arial"/>
                <a:ea typeface="Arial"/>
                <a:cs typeface="Arial"/>
              </a:defRPr>
            </a:defPPr>
          </a:lstStyle>
          <a:p xmlns:a="http://schemas.openxmlformats.org/drawingml/2006/main">
            <a:pPr algn="l">
              <a:defRPr sz="2325" b="1">
                <a:solidFill>
                  <a:srgbClr val="00837D"/>
                </a:solidFill>
                <a:latin typeface="Arial"/>
                <a:ea typeface="Arial"/>
                <a:cs typeface="Arial"/>
              </a:defRPr>
            </a:pPr>
            <a:r>
              <a:rPr sz="2325" b="1">
                <a:solidFill>
                  <a:srgbClr val="00837D"/>
                </a:solidFill>
                <a:latin typeface="Arial"/>
                <a:ea typeface="Arial"/>
                <a:cs typeface="Arial"/>
              </a:rPr>
              <a:t>c6i.large · us-east-1a · MTU 1500</a:t>
            </a:r>
          </a:p>
        </p:txBody>
      </p:sp>
      <p:graphicFrame>
        <p:nvGraphicFramePr>
          <p:cNvPr id="4" name="">
            <a:extLst xmlns:a="http://schemas.openxmlformats.org/drawingml/2006/main">
              <a:ext uri="{FF2B5EF4-FFF2-40B4-BE49-F238E27FC236}">
                <a16:creationId xmlns:a16="http://schemas.microsoft.com/office/drawing/2014/main" id="{F2BA0BB4-7949-495E-9C20-48B1AA20314D}"/>
              </a:ext>
            </a:extLst>
          </p:cNvPr>
          <p:cNvGraphicFramePr/>
          <p:nvPr/>
        </p:nvGraphicFramePr>
        <p:xfrm>
          <a:off xmlns:a="http://schemas.openxmlformats.org/drawingml/2006/main" x="609600" y="2095500"/>
          <a:ext xmlns:a="http://schemas.openxmlformats.org/drawingml/2006/main" cx="10953750" cy="2095500"/>
        </p:xfrm>
        <a:graphic xmlns:a="http://schemas.openxmlformats.org/drawingml/2006/main">
          <a:graphicData uri="http://schemas.openxmlformats.org/drawingml/2006/table">
            <a:tbl>
              <a:tblPr/>
              <a:tblGrid>
                <a:gridCol w="2428875"/>
                <a:gridCol w="1905000"/>
                <a:gridCol w="6619875"/>
              </a:tblGrid>
              <a:tr h="698500">
                <a:tc>
                  <a:txBody>
                    <a:bodyPr lIns="114300" tIns="114300" rIns="114300" bIns="114300"/>
                    <a:lstStyle/>
                    <a:p>
                      <a:r>
                        <a:rPr sz="2025" b="1">
                          <a:solidFill>
                            <a:srgbClr val="FFFFFF"/>
                          </a:solidFill>
                          <a:latin typeface="Arial"/>
                          <a:ea typeface="Arial"/>
                          <a:cs typeface="Arial"/>
                        </a:rPr>
                        <a:t>Phép đo</a:t>
                      </a:r>
                    </a:p>
                  </a:txBody>
                  <a:tcPr marL="91440" marR="91440" marT="45720" marB="45720" anchor="ctr">
                    <a:lnL w="9525">
                      <a:solidFill>
                        <a:srgbClr val="D5E0E7"/>
                      </a:solidFill>
                      <a:prstDash val="solid"/>
                    </a:lnL>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2025" b="1">
                          <a:solidFill>
                            <a:srgbClr val="FFFFFF"/>
                          </a:solidFill>
                          <a:latin typeface="Arial"/>
                          <a:ea typeface="Arial"/>
                          <a:cs typeface="Arial"/>
                        </a:rPr>
                        <a:t>Đã thu</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2025" b="1">
                          <a:solidFill>
                            <a:srgbClr val="FFFFFF"/>
                          </a:solidFill>
                          <a:latin typeface="Arial"/>
                          <a:ea typeface="Arial"/>
                          <a:cs typeface="Arial"/>
                        </a:rPr>
                        <a:t>Trong mỗi block</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r>
              <a:tr h="698500">
                <a:tc>
                  <a:txBody>
                    <a:bodyPr lIns="114300" tIns="114300" rIns="114300" bIns="114300"/>
                    <a:lstStyle/>
                    <a:p>
                      <a:r>
                        <a:rPr sz="2025" b="0">
                          <a:solidFill>
                            <a:srgbClr val="132D46"/>
                          </a:solidFill>
                          <a:latin typeface="Arial"/>
                          <a:ea typeface="Arial"/>
                          <a:cs typeface="Arial"/>
                        </a:rPr>
                        <a:t>RTT A–B</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5 block</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2 mode × 3 lượt × 100 probe</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698500">
                <a:tc>
                  <a:txBody>
                    <a:bodyPr lIns="114300" tIns="114300" rIns="114300" bIns="114300"/>
                    <a:lstStyle/>
                    <a:p>
                      <a:r>
                        <a:rPr sz="2025" b="0">
                          <a:solidFill>
                            <a:srgbClr val="132D46"/>
                          </a:solidFill>
                          <a:latin typeface="Arial"/>
                          <a:ea typeface="Arial"/>
                          <a:cs typeface="Arial"/>
                        </a:rPr>
                        <a:t>Ứng dụng</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025" b="0">
                          <a:solidFill>
                            <a:srgbClr val="132D46"/>
                          </a:solidFill>
                          <a:latin typeface="Arial"/>
                          <a:ea typeface="Arial"/>
                          <a:cs typeface="Arial"/>
                        </a:rPr>
                        <a:t>3 block</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025" b="0">
                          <a:solidFill>
                            <a:srgbClr val="132D46"/>
                          </a:solidFill>
                          <a:latin typeface="Arial"/>
                          <a:ea typeface="Arial"/>
                          <a:cs typeface="Arial"/>
                        </a:rPr>
                        <a:t>2 mode × 2 slots × 2 mức tải</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bl>
          </a:graphicData>
        </a:graphic>
      </p:graphicFrame>
      <p:sp>
        <p:nvSpPr>
          <p:cNvPr id="5" name="">
            <a:extLst xmlns:a="http://schemas.openxmlformats.org/drawingml/2006/main">
              <a:ext uri="{FF2B5EF4-FFF2-40B4-BE49-F238E27FC236}">
                <a16:creationId xmlns:a16="http://schemas.microsoft.com/office/drawing/2014/main" id="{CA588E30-BA55-4FA4-8A09-B6975A3B71A7}"/>
              </a:ext>
            </a:extLst>
          </p:cNvPr>
          <p:cNvSpPr>
            <a:spLocks xmlns:a="http://schemas.openxmlformats.org/drawingml/2006/main" noGrp="1"/>
          </p:cNvSpPr>
          <p:nvPr/>
        </p:nvSpPr>
        <p:spPr>
          <a:xfrm xmlns:a="http://schemas.openxmlformats.org/drawingml/2006/main">
            <a:off x="609600" y="44291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D46"/>
                </a:solidFill>
                <a:latin typeface="Arial"/>
                <a:ea typeface="Arial"/>
                <a:cs typeface="Arial"/>
              </a:defRPr>
            </a:defPPr>
          </a:lstStyle>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Ứng dụng: 5 s warm-up, 15 s đo, deadline 50 ms.</a:t>
            </a:r>
          </a:p>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Tổng 252.000 yêu cầu theo lịch qua 24 điều kiện.</a:t>
            </a:r>
          </a:p>
        </p:txBody>
      </p:sp>
      <p:sp>
        <p:nvSpPr>
          <p:cNvPr id="6" name="">
            <a:extLst xmlns:a="http://schemas.openxmlformats.org/drawingml/2006/main">
              <a:ext uri="{FF2B5EF4-FFF2-40B4-BE49-F238E27FC236}">
                <a16:creationId xmlns:a16="http://schemas.microsoft.com/office/drawing/2014/main" id="{2947A9C1-B228-41AE-8101-D09D506CC038}"/>
              </a:ext>
            </a:extLst>
          </p:cNvPr>
          <p:cNvSpPr>
            <a:spLocks xmlns:a="http://schemas.openxmlformats.org/drawingml/2006/main" noGrp="1"/>
          </p:cNvSpPr>
          <p:nvPr/>
        </p:nvSpPr>
        <p:spPr>
          <a:xfrm xmlns:a="http://schemas.openxmlformats.org/drawingml/2006/main">
            <a:off x="609600" y="55054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F6171"/>
                </a:solidFill>
                <a:latin typeface="Arial"/>
                <a:ea typeface="Arial"/>
                <a:cs typeface="Arial"/>
              </a:defRPr>
            </a:defPPr>
          </a:lstStyle>
          <a:p xmlns:a="http://schemas.openxmlformats.org/drawingml/2006/main">
            <a:pPr algn="l">
              <a:defRPr sz="1800" b="0">
                <a:solidFill>
                  <a:srgbClr val="4F6171"/>
                </a:solidFill>
                <a:latin typeface="Arial"/>
                <a:ea typeface="Arial"/>
                <a:cs typeface="Arial"/>
              </a:defRPr>
            </a:pPr>
            <a:r>
              <a:rPr sz="1800" b="0">
                <a:solidFill>
                  <a:srgbClr val="4F6171"/>
                </a:solidFill>
                <a:latin typeface="Arial"/>
                <a:ea typeface="Arial"/>
                <a:cs typeface="Arial"/>
              </a:rPr>
              <a:t>Kế hoạch 16 block rút gọn vì ngân sách.</a:t>
            </a:r>
          </a:p>
          <a:p xmlns:a="http://schemas.openxmlformats.org/drawingml/2006/main">
            <a:pPr algn="l">
              <a:defRPr sz="1800" b="0">
                <a:solidFill>
                  <a:srgbClr val="4F6171"/>
                </a:solidFill>
                <a:latin typeface="Arial"/>
                <a:ea typeface="Arial"/>
                <a:cs typeface="Arial"/>
              </a:defRPr>
            </a:pPr>
            <a:r>
              <a:rPr sz="1800" b="0">
                <a:solidFill>
                  <a:srgbClr val="4F6171"/>
                </a:solidFill>
                <a:latin typeface="Arial"/>
                <a:ea typeface="Arial"/>
                <a:cs typeface="Arial"/>
              </a:rPr>
              <a:t>Thống kê mô tả trên dữ liệu đã thu.</a:t>
            </a:r>
          </a:p>
        </p:txBody>
      </p:sp>
    </p:spTree>
    <p:extLst>
      <p:ext uri="{BB962C8B-B14F-4D97-AF65-F5344CB8AC3E}">
        <p14:creationId xmlns:p14="http://schemas.microsoft.com/office/powerpoint/2010/main" val="17606369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65CDD4-3D0D-401F-90C3-B690A042202F}"/>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Chỉ số gắn với chất lượng dịch vụ</a:t>
            </a:r>
          </a:p>
        </p:txBody>
      </p:sp>
      <p:sp>
        <p:nvSpPr>
          <p:cNvPr id="2" name="">
            <a:extLst xmlns:a="http://schemas.openxmlformats.org/drawingml/2006/main">
              <a:ext uri="{FF2B5EF4-FFF2-40B4-BE49-F238E27FC236}">
                <a16:creationId xmlns:a16="http://schemas.microsoft.com/office/drawing/2014/main" id="{861E93A7-EB8C-4033-B83E-6E9D2E3B1B16}"/>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CB9CAF6-CBB9-4B65-886E-ACC849406D96}"/>
              </a:ext>
            </a:extLst>
          </p:cNvPr>
          <p:cNvSpPr>
            <a:spLocks xmlns:a="http://schemas.openxmlformats.org/drawingml/2006/main" noGrp="1"/>
          </p:cNvSpPr>
          <p:nvPr/>
        </p:nvSpPr>
        <p:spPr>
          <a:xfrm xmlns:a="http://schemas.openxmlformats.org/drawingml/2006/main">
            <a:off x="609600" y="16192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837D"/>
                </a:solidFill>
                <a:latin typeface="Arial"/>
                <a:ea typeface="Arial"/>
                <a:cs typeface="Arial"/>
              </a:defRPr>
            </a:defPPr>
          </a:lstStyle>
          <a:p xmlns:a="http://schemas.openxmlformats.org/drawingml/2006/main">
            <a:pPr algn="l">
              <a:defRPr sz="2625" b="1">
                <a:solidFill>
                  <a:srgbClr val="00837D"/>
                </a:solidFill>
                <a:latin typeface="Arial"/>
                <a:ea typeface="Arial"/>
                <a:cs typeface="Arial"/>
              </a:defRPr>
            </a:pPr>
            <a:r>
              <a:rPr sz="2625" b="1">
                <a:solidFill>
                  <a:srgbClr val="00837D"/>
                </a:solidFill>
                <a:latin typeface="Arial"/>
                <a:ea typeface="Arial"/>
                <a:cs typeface="Arial"/>
              </a:rPr>
              <a:t>RTT</a:t>
            </a:r>
          </a:p>
        </p:txBody>
      </p:sp>
      <p:sp>
        <p:nvSpPr>
          <p:cNvPr id="4" name="">
            <a:extLst xmlns:a="http://schemas.openxmlformats.org/drawingml/2006/main">
              <a:ext uri="{FF2B5EF4-FFF2-40B4-BE49-F238E27FC236}">
                <a16:creationId xmlns:a16="http://schemas.microsoft.com/office/drawing/2014/main" id="{B47946F9-0231-4A18-9FD2-0928210AB49E}"/>
              </a:ext>
            </a:extLst>
          </p:cNvPr>
          <p:cNvSpPr>
            <a:spLocks xmlns:a="http://schemas.openxmlformats.org/drawingml/2006/main" noGrp="1"/>
          </p:cNvSpPr>
          <p:nvPr/>
        </p:nvSpPr>
        <p:spPr>
          <a:xfrm xmlns:a="http://schemas.openxmlformats.org/drawingml/2006/main">
            <a:off x="609600" y="22574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32D46"/>
                </a:solidFill>
                <a:latin typeface="Arial"/>
                <a:ea typeface="Arial"/>
                <a:cs typeface="Arial"/>
              </a:defRPr>
            </a:defPPr>
          </a:lstStyle>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Thời gian đi và phản hồi</a:t>
            </a:r>
          </a:p>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Đơn vị: ms</a:t>
            </a:r>
          </a:p>
        </p:txBody>
      </p:sp>
      <p:sp>
        <p:nvSpPr>
          <p:cNvPr id="5" name="">
            <a:extLst xmlns:a="http://schemas.openxmlformats.org/drawingml/2006/main">
              <a:ext uri="{FF2B5EF4-FFF2-40B4-BE49-F238E27FC236}">
                <a16:creationId xmlns:a16="http://schemas.microsoft.com/office/drawing/2014/main" id="{1D016A0B-A378-4064-941D-4DD4BF38E411}"/>
              </a:ext>
            </a:extLst>
          </p:cNvPr>
          <p:cNvSpPr>
            <a:spLocks xmlns:a="http://schemas.openxmlformats.org/drawingml/2006/main" noGrp="1"/>
          </p:cNvSpPr>
          <p:nvPr/>
        </p:nvSpPr>
        <p:spPr>
          <a:xfrm xmlns:a="http://schemas.openxmlformats.org/drawingml/2006/main">
            <a:off x="4419600" y="16192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837D"/>
                </a:solidFill>
                <a:latin typeface="Arial"/>
                <a:ea typeface="Arial"/>
                <a:cs typeface="Arial"/>
              </a:defRPr>
            </a:defPPr>
          </a:lstStyle>
          <a:p xmlns:a="http://schemas.openxmlformats.org/drawingml/2006/main">
            <a:pPr algn="l">
              <a:defRPr sz="2625" b="1">
                <a:solidFill>
                  <a:srgbClr val="00837D"/>
                </a:solidFill>
                <a:latin typeface="Arial"/>
                <a:ea typeface="Arial"/>
                <a:cs typeface="Arial"/>
              </a:defRPr>
            </a:pPr>
            <a:r>
              <a:rPr sz="2625" b="1">
                <a:solidFill>
                  <a:srgbClr val="00837D"/>
                </a:solidFill>
                <a:latin typeface="Arial"/>
                <a:ea typeface="Arial"/>
                <a:cs typeface="Arial"/>
              </a:rPr>
              <a:t>P95</a:t>
            </a:r>
          </a:p>
        </p:txBody>
      </p:sp>
      <p:sp>
        <p:nvSpPr>
          <p:cNvPr id="6" name="">
            <a:extLst xmlns:a="http://schemas.openxmlformats.org/drawingml/2006/main">
              <a:ext uri="{FF2B5EF4-FFF2-40B4-BE49-F238E27FC236}">
                <a16:creationId xmlns:a16="http://schemas.microsoft.com/office/drawing/2014/main" id="{2E609E56-C7BE-4609-B6D7-A2BFC26B628F}"/>
              </a:ext>
            </a:extLst>
          </p:cNvPr>
          <p:cNvSpPr>
            <a:spLocks xmlns:a="http://schemas.openxmlformats.org/drawingml/2006/main" noGrp="1"/>
          </p:cNvSpPr>
          <p:nvPr/>
        </p:nvSpPr>
        <p:spPr>
          <a:xfrm xmlns:a="http://schemas.openxmlformats.org/drawingml/2006/main">
            <a:off x="4419600" y="22574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32D46"/>
                </a:solidFill>
                <a:latin typeface="Arial"/>
                <a:ea typeface="Arial"/>
                <a:cs typeface="Arial"/>
              </a:defRPr>
            </a:defPPr>
          </a:lstStyle>
          <a:p xmlns:a="http://schemas.openxmlformats.org/drawingml/2006/main">
            <a:pPr algn="l">
              <a:defRPr sz="2625" b="0">
                <a:solidFill>
                  <a:srgbClr val="132D46"/>
                </a:solidFill>
                <a:latin typeface="Arial"/>
                <a:ea typeface="Arial"/>
                <a:cs typeface="Arial"/>
              </a:defRPr>
            </a:pPr>
            <a:r>
              <a:rPr sz="2625" b="0">
                <a:solidFill>
                  <a:srgbClr val="132D46"/>
                </a:solidFill>
                <a:latin typeface="Arial"/>
                <a:ea typeface="Arial"/>
                <a:cs typeface="Arial"/>
              </a:rPr>
              <a:t>k = ⌈0,95 × n⌉</a:t>
            </a:r>
          </a:p>
          <a:p xmlns:a="http://schemas.openxmlformats.org/drawingml/2006/main">
            <a:pPr algn="l">
              <a:defRPr sz="2625" b="0">
                <a:solidFill>
                  <a:srgbClr val="132D46"/>
                </a:solidFill>
                <a:latin typeface="Arial"/>
                <a:ea typeface="Arial"/>
                <a:cs typeface="Arial"/>
              </a:defRPr>
            </a:pPr>
            <a:r>
              <a:rPr sz="2625" b="0">
                <a:solidFill>
                  <a:srgbClr val="132D46"/>
                </a:solidFill>
                <a:latin typeface="Arial"/>
                <a:ea typeface="Arial"/>
                <a:cs typeface="Arial"/>
              </a:rPr>
              <a:t>P95 = x₍ₖ₎</a:t>
            </a:r>
          </a:p>
        </p:txBody>
      </p:sp>
      <p:sp>
        <p:nvSpPr>
          <p:cNvPr id="7" name="">
            <a:extLst xmlns:a="http://schemas.openxmlformats.org/drawingml/2006/main">
              <a:ext uri="{FF2B5EF4-FFF2-40B4-BE49-F238E27FC236}">
                <a16:creationId xmlns:a16="http://schemas.microsoft.com/office/drawing/2014/main" id="{6A847262-EDCE-4997-A9AF-FD1437039B8D}"/>
              </a:ext>
            </a:extLst>
          </p:cNvPr>
          <p:cNvSpPr>
            <a:spLocks xmlns:a="http://schemas.openxmlformats.org/drawingml/2006/main" noGrp="1"/>
          </p:cNvSpPr>
          <p:nvPr/>
        </p:nvSpPr>
        <p:spPr>
          <a:xfrm xmlns:a="http://schemas.openxmlformats.org/drawingml/2006/main">
            <a:off x="8220075" y="16192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837D"/>
                </a:solidFill>
                <a:latin typeface="Arial"/>
                <a:ea typeface="Arial"/>
                <a:cs typeface="Arial"/>
              </a:defRPr>
            </a:defPPr>
          </a:lstStyle>
          <a:p xmlns:a="http://schemas.openxmlformats.org/drawingml/2006/main">
            <a:pPr algn="l">
              <a:defRPr sz="2625" b="1">
                <a:solidFill>
                  <a:srgbClr val="00837D"/>
                </a:solidFill>
                <a:latin typeface="Arial"/>
                <a:ea typeface="Arial"/>
                <a:cs typeface="Arial"/>
              </a:defRPr>
            </a:pPr>
            <a:r>
              <a:rPr sz="2625" b="1">
                <a:solidFill>
                  <a:srgbClr val="00837D"/>
                </a:solidFill>
                <a:latin typeface="Arial"/>
                <a:ea typeface="Arial"/>
                <a:cs typeface="Arial"/>
              </a:rPr>
              <a:t>SLI đúng hạn</a:t>
            </a:r>
          </a:p>
        </p:txBody>
      </p:sp>
      <p:sp>
        <p:nvSpPr>
          <p:cNvPr id="8" name="">
            <a:extLst xmlns:a="http://schemas.openxmlformats.org/drawingml/2006/main">
              <a:ext uri="{FF2B5EF4-FFF2-40B4-BE49-F238E27FC236}">
                <a16:creationId xmlns:a16="http://schemas.microsoft.com/office/drawing/2014/main" id="{76C2382F-E70C-48CB-A6D4-A187D8CB03B8}"/>
              </a:ext>
            </a:extLst>
          </p:cNvPr>
          <p:cNvSpPr>
            <a:spLocks xmlns:a="http://schemas.openxmlformats.org/drawingml/2006/main" noGrp="1"/>
          </p:cNvSpPr>
          <p:nvPr/>
        </p:nvSpPr>
        <p:spPr>
          <a:xfrm xmlns:a="http://schemas.openxmlformats.org/drawingml/2006/main">
            <a:off x="8220075" y="22574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32D46"/>
                </a:solidFill>
                <a:latin typeface="Arial"/>
                <a:ea typeface="Arial"/>
                <a:cs typeface="Arial"/>
              </a:defRPr>
            </a:defPPr>
          </a:lstStyle>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p̂ = N_good / N_sched</a:t>
            </a:r>
          </a:p>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SLI = 100 × p̂ (%)</a:t>
            </a:r>
          </a:p>
        </p:txBody>
      </p:sp>
      <p:sp>
        <p:nvSpPr>
          <p:cNvPr id="9" name="">
            <a:extLst xmlns:a="http://schemas.openxmlformats.org/drawingml/2006/main">
              <a:ext uri="{FF2B5EF4-FFF2-40B4-BE49-F238E27FC236}">
                <a16:creationId xmlns:a16="http://schemas.microsoft.com/office/drawing/2014/main" id="{F1A82C34-848C-47B6-8486-6E41ADD5F8A2}"/>
              </a:ext>
            </a:extLst>
          </p:cNvPr>
          <p:cNvSpPr>
            <a:spLocks xmlns:a="http://schemas.openxmlformats.org/drawingml/2006/main" noGrp="1"/>
          </p:cNvSpPr>
          <p:nvPr/>
        </p:nvSpPr>
        <p:spPr>
          <a:xfrm xmlns:a="http://schemas.openxmlformats.org/drawingml/2006/main">
            <a:off x="609600" y="3857625"/>
            <a:ext cx="10858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32D46"/>
                </a:solidFill>
                <a:latin typeface="Arial"/>
                <a:ea typeface="Arial"/>
                <a:cs typeface="Arial"/>
              </a:defRPr>
            </a:defPPr>
          </a:lstStyle>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n: số độ trễ hợp lệ. x₍ₖ₎: giá trị thứ k sau khi sắp tăng dần.</a:t>
            </a:r>
          </a:p>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N_good: số yêu cầu đúng hạn. N_sched: số yêu cầu theo lịch.</a:t>
            </a:r>
          </a:p>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Đúng hạn: HTTP thành công và hoàn thành ≤ 50 ms từ lịch gửi.</a:t>
            </a:r>
          </a:p>
        </p:txBody>
      </p:sp>
      <p:sp>
        <p:nvSpPr>
          <p:cNvPr id="10" name="">
            <a:extLst xmlns:a="http://schemas.openxmlformats.org/drawingml/2006/main">
              <a:ext uri="{FF2B5EF4-FFF2-40B4-BE49-F238E27FC236}">
                <a16:creationId xmlns:a16="http://schemas.microsoft.com/office/drawing/2014/main" id="{0038C331-3561-40A2-A9D4-E7BEB8236EE1}"/>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QoS: trang PDF 4, 26, 41–42. Nearest rank là lựa chọn tính toán của nhóm.</a:t>
            </a:r>
          </a:p>
        </p:txBody>
      </p:sp>
    </p:spTree>
    <p:extLst>
      <p:ext uri="{BB962C8B-B14F-4D97-AF65-F5344CB8AC3E}">
        <p14:creationId xmlns:p14="http://schemas.microsoft.com/office/powerpoint/2010/main" val="16446304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EC58D3-9FC3-47FE-BFB7-BD71651F4C8C}"/>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RTT Peering thấp hơn trong cả 5 block</a:t>
            </a:r>
          </a:p>
        </p:txBody>
      </p:sp>
      <p:sp>
        <p:nvSpPr>
          <p:cNvPr id="2" name="">
            <a:extLst xmlns:a="http://schemas.openxmlformats.org/drawingml/2006/main">
              <a:ext uri="{FF2B5EF4-FFF2-40B4-BE49-F238E27FC236}">
                <a16:creationId xmlns:a16="http://schemas.microsoft.com/office/drawing/2014/main" id="{D6276B7A-05C0-4935-87E9-6F7AA4371523}"/>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07</a:t>
            </a:r>
          </a:p>
        </p:txBody>
      </p:sp>
      <p:graphicFrame>
        <p:nvGraphicFramePr>
          <p:cNvPr id="3" name="Chart">
            <a:extLst xmlns:a="http://schemas.openxmlformats.org/drawingml/2006/main">
              <a:ext uri="{FF2B5EF4-FFF2-40B4-BE49-F238E27FC236}">
                <a16:creationId xmlns:a16="http://schemas.microsoft.com/office/drawing/2014/main" id="{06F069DC-D1C1-4463-8104-EEDDC3758A68}"/>
              </a:ext>
            </a:extLst>
          </p:cNvPr>
          <p:cNvGraphicFramePr/>
          <p:nvPr/>
        </p:nvGraphicFramePr>
        <p:xfrm>
          <a:off xmlns:a="http://schemas.openxmlformats.org/drawingml/2006/main" x="609600" y="1428750"/>
          <a:ext xmlns:a="http://schemas.openxmlformats.org/drawingml/2006/main" cx="7715250" cy="4381500"/>
        </p:xfrm>
        <a:graphic xmlns:a="http://schemas.openxmlformats.org/drawingml/2006/main">
          <a:graphicData uri="http://schemas.openxmlformats.org/drawingml/2006/chart">
            <c:chart xmlns:r="http://schemas.openxmlformats.org/officeDocument/2006/relationships" xmlns:c="http://schemas.openxmlformats.org/drawingml/2006/chart" r:id="R16bfb1146d4e402a"/>
          </a:graphicData>
        </a:graphic>
      </p:graphicFrame>
      <p:sp>
        <p:nvSpPr>
          <p:cNvPr id="4" name="">
            <a:extLst xmlns:a="http://schemas.openxmlformats.org/drawingml/2006/main">
              <a:ext uri="{FF2B5EF4-FFF2-40B4-BE49-F238E27FC236}">
                <a16:creationId xmlns:a16="http://schemas.microsoft.com/office/drawing/2014/main" id="{4930D421-C7E9-4108-BDFD-F1F3AB21043D}"/>
              </a:ext>
            </a:extLst>
          </p:cNvPr>
          <p:cNvSpPr>
            <a:spLocks xmlns:a="http://schemas.openxmlformats.org/drawingml/2006/main" noGrp="1"/>
          </p:cNvSpPr>
          <p:nvPr/>
        </p:nvSpPr>
        <p:spPr>
          <a:xfrm xmlns:a="http://schemas.openxmlformats.org/drawingml/2006/main">
            <a:off x="8572500" y="19050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D86A24"/>
                </a:solidFill>
                <a:latin typeface="Arial"/>
                <a:ea typeface="Arial"/>
                <a:cs typeface="Arial"/>
              </a:defRPr>
            </a:defPPr>
          </a:lstStyle>
          <a:p xmlns:a="http://schemas.openxmlformats.org/drawingml/2006/main">
            <a:pPr algn="l">
              <a:defRPr sz="3375" b="1">
                <a:solidFill>
                  <a:srgbClr val="D86A24"/>
                </a:solidFill>
                <a:latin typeface="Arial"/>
                <a:ea typeface="Arial"/>
                <a:cs typeface="Arial"/>
              </a:defRPr>
            </a:pPr>
            <a:r>
              <a:rPr sz="3375" b="1">
                <a:solidFill>
                  <a:srgbClr val="D86A24"/>
                </a:solidFill>
                <a:latin typeface="Arial"/>
                <a:ea typeface="Arial"/>
                <a:cs typeface="Arial"/>
              </a:rPr>
              <a:t>+0,3119 ms</a:t>
            </a:r>
          </a:p>
        </p:txBody>
      </p:sp>
      <p:sp>
        <p:nvSpPr>
          <p:cNvPr id="5" name="">
            <a:extLst xmlns:a="http://schemas.openxmlformats.org/drawingml/2006/main">
              <a:ext uri="{FF2B5EF4-FFF2-40B4-BE49-F238E27FC236}">
                <a16:creationId xmlns:a16="http://schemas.microsoft.com/office/drawing/2014/main" id="{A3640B8F-979A-47BA-8CDC-BD193741256C}"/>
              </a:ext>
            </a:extLst>
          </p:cNvPr>
          <p:cNvSpPr>
            <a:spLocks xmlns:a="http://schemas.openxmlformats.org/drawingml/2006/main" noGrp="1"/>
          </p:cNvSpPr>
          <p:nvPr/>
        </p:nvSpPr>
        <p:spPr>
          <a:xfrm xmlns:a="http://schemas.openxmlformats.org/drawingml/2006/main">
            <a:off x="8572500" y="268605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D46"/>
                </a:solidFill>
                <a:latin typeface="Arial"/>
                <a:ea typeface="Arial"/>
                <a:cs typeface="Arial"/>
              </a:defRPr>
            </a:defPPr>
          </a:lstStyle>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TGW trừ Peering</a:t>
            </a:r>
          </a:p>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Trung bình 5 block</a:t>
            </a:r>
          </a:p>
        </p:txBody>
      </p:sp>
      <p:sp>
        <p:nvSpPr>
          <p:cNvPr id="6" name="">
            <a:extLst xmlns:a="http://schemas.openxmlformats.org/drawingml/2006/main">
              <a:ext uri="{FF2B5EF4-FFF2-40B4-BE49-F238E27FC236}">
                <a16:creationId xmlns:a16="http://schemas.microsoft.com/office/drawing/2014/main" id="{CCA33F5D-50BD-4AFD-9729-69CAB7D68DFD}"/>
              </a:ext>
            </a:extLst>
          </p:cNvPr>
          <p:cNvSpPr>
            <a:spLocks xmlns:a="http://schemas.openxmlformats.org/drawingml/2006/main" noGrp="1"/>
          </p:cNvSpPr>
          <p:nvPr/>
        </p:nvSpPr>
        <p:spPr>
          <a:xfrm xmlns:a="http://schemas.openxmlformats.org/drawingml/2006/main">
            <a:off x="8572500" y="3857625"/>
            <a:ext cx="2905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32D46"/>
                </a:solidFill>
                <a:latin typeface="Arial"/>
                <a:ea typeface="Arial"/>
                <a:cs typeface="Arial"/>
              </a:defRPr>
            </a:defPPr>
          </a:lstStyle>
          <a:p xmlns:a="http://schemas.openxmlformats.org/drawingml/2006/main">
            <a:pPr algn="l">
              <a:defRPr sz="1950" b="0">
                <a:solidFill>
                  <a:srgbClr val="132D46"/>
                </a:solidFill>
                <a:latin typeface="Arial"/>
                <a:ea typeface="Arial"/>
                <a:cs typeface="Arial"/>
              </a:defRPr>
            </a:pPr>
            <a:r>
              <a:rPr sz="1950" b="0">
                <a:solidFill>
                  <a:srgbClr val="132D46"/>
                </a:solidFill>
                <a:latin typeface="Arial"/>
                <a:ea typeface="Arial"/>
                <a:cs typeface="Arial"/>
              </a:rPr>
              <a:t>Khoảng chênh lệch</a:t>
            </a:r>
          </a:p>
          <a:p xmlns:a="http://schemas.openxmlformats.org/drawingml/2006/main">
            <a:pPr algn="l">
              <a:defRPr sz="1950" b="0">
                <a:solidFill>
                  <a:srgbClr val="132D46"/>
                </a:solidFill>
                <a:latin typeface="Arial"/>
                <a:ea typeface="Arial"/>
                <a:cs typeface="Arial"/>
              </a:defRPr>
            </a:pPr>
            <a:r>
              <a:rPr sz="1950" b="0">
                <a:solidFill>
                  <a:srgbClr val="132D46"/>
                </a:solidFill>
                <a:latin typeface="Arial"/>
                <a:ea typeface="Arial"/>
                <a:cs typeface="Arial"/>
              </a:rPr>
              <a:t>0,2303–0,4257 ms</a:t>
            </a:r>
          </a:p>
          <a:p xmlns:a="http://schemas.openxmlformats.org/drawingml/2006/main">
            <a:r>
              <a:t/>
            </a:r>
          </a:p>
          <a:p xmlns:a="http://schemas.openxmlformats.org/drawingml/2006/main">
            <a:pPr algn="l">
              <a:defRPr sz="1950" b="0">
                <a:solidFill>
                  <a:srgbClr val="132D46"/>
                </a:solidFill>
                <a:latin typeface="Arial"/>
                <a:ea typeface="Arial"/>
                <a:cs typeface="Arial"/>
              </a:defRPr>
            </a:pPr>
            <a:r>
              <a:rPr sz="1950" b="0">
                <a:solidFill>
                  <a:srgbClr val="132D46"/>
                </a:solidFill>
                <a:latin typeface="Arial"/>
                <a:ea typeface="Arial"/>
                <a:cs typeface="Arial"/>
              </a:rPr>
              <a:t>0 / 3.000 thiếu phản hồi</a:t>
            </a:r>
          </a:p>
        </p:txBody>
      </p:sp>
      <p:sp>
        <p:nvSpPr>
          <p:cNvPr id="7" name="">
            <a:extLst xmlns:a="http://schemas.openxmlformats.org/drawingml/2006/main">
              <a:ext uri="{FF2B5EF4-FFF2-40B4-BE49-F238E27FC236}">
                <a16:creationId xmlns:a16="http://schemas.microsoft.com/office/drawing/2014/main" id="{3CD5485B-E9BC-4D6A-B426-AF29AD97D011}"/>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12–13/10/2026. Mỗi cột là trung bình một mode trong block. Nguồn: analysis RTT.</a:t>
            </a:r>
          </a:p>
        </p:txBody>
      </p:sp>
    </p:spTree>
    <p:extLst>
      <p:ext uri="{BB962C8B-B14F-4D97-AF65-F5344CB8AC3E}">
        <p14:creationId xmlns:p14="http://schemas.microsoft.com/office/powerpoint/2010/main" val="20101624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DEAED9-34AD-42F0-B49B-27832BF75F7C}"/>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16 slots cải thiện rõ tỷ lệ đúng hạn</a:t>
            </a:r>
          </a:p>
        </p:txBody>
      </p:sp>
      <p:sp>
        <p:nvSpPr>
          <p:cNvPr id="2" name="">
            <a:extLst xmlns:a="http://schemas.openxmlformats.org/drawingml/2006/main">
              <a:ext uri="{FF2B5EF4-FFF2-40B4-BE49-F238E27FC236}">
                <a16:creationId xmlns:a16="http://schemas.microsoft.com/office/drawing/2014/main" id="{95FC80DF-D6BC-4F11-843E-BFDAA775C049}"/>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08</a:t>
            </a:r>
          </a:p>
        </p:txBody>
      </p:sp>
      <p:graphicFrame>
        <p:nvGraphicFramePr>
          <p:cNvPr id="3" name="Chart">
            <a:extLst xmlns:a="http://schemas.openxmlformats.org/drawingml/2006/main">
              <a:ext uri="{FF2B5EF4-FFF2-40B4-BE49-F238E27FC236}">
                <a16:creationId xmlns:a16="http://schemas.microsoft.com/office/drawing/2014/main" id="{634DA3A8-B0D5-4DF3-BFCF-8678EAD26796}"/>
              </a:ext>
            </a:extLst>
          </p:cNvPr>
          <p:cNvGraphicFramePr/>
          <p:nvPr/>
        </p:nvGraphicFramePr>
        <p:xfrm>
          <a:off xmlns:a="http://schemas.openxmlformats.org/drawingml/2006/main" x="609600" y="1476375"/>
          <a:ext xmlns:a="http://schemas.openxmlformats.org/drawingml/2006/main" cx="7810500" cy="4333875"/>
        </p:xfrm>
        <a:graphic xmlns:a="http://schemas.openxmlformats.org/drawingml/2006/main">
          <a:graphicData uri="http://schemas.openxmlformats.org/drawingml/2006/chart">
            <c:chart xmlns:r="http://schemas.openxmlformats.org/officeDocument/2006/relationships" xmlns:c="http://schemas.openxmlformats.org/drawingml/2006/chart" r:id="R0f25b6b684f3472f"/>
          </a:graphicData>
        </a:graphic>
      </p:graphicFrame>
      <p:sp>
        <p:nvSpPr>
          <p:cNvPr id="4" name="">
            <a:extLst xmlns:a="http://schemas.openxmlformats.org/drawingml/2006/main">
              <a:ext uri="{FF2B5EF4-FFF2-40B4-BE49-F238E27FC236}">
                <a16:creationId xmlns:a16="http://schemas.microsoft.com/office/drawing/2014/main" id="{50D066D8-92A2-4E7D-AB0E-2142CB3B8F43}"/>
              </a:ext>
            </a:extLst>
          </p:cNvPr>
          <p:cNvSpPr>
            <a:spLocks xmlns:a="http://schemas.openxmlformats.org/drawingml/2006/main" noGrp="1"/>
          </p:cNvSpPr>
          <p:nvPr/>
        </p:nvSpPr>
        <p:spPr>
          <a:xfrm xmlns:a="http://schemas.openxmlformats.org/drawingml/2006/main">
            <a:off x="8667750" y="1857375"/>
            <a:ext cx="276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00837D"/>
                </a:solidFill>
                <a:latin typeface="Arial"/>
                <a:ea typeface="Arial"/>
                <a:cs typeface="Arial"/>
              </a:defRPr>
            </a:defPPr>
          </a:lstStyle>
          <a:p xmlns:a="http://schemas.openxmlformats.org/drawingml/2006/main">
            <a:pPr algn="l">
              <a:defRPr sz="3975" b="1">
                <a:solidFill>
                  <a:srgbClr val="00837D"/>
                </a:solidFill>
                <a:latin typeface="Arial"/>
                <a:ea typeface="Arial"/>
                <a:cs typeface="Arial"/>
              </a:defRPr>
            </a:pPr>
            <a:r>
              <a:rPr sz="3975" b="1">
                <a:solidFill>
                  <a:srgbClr val="00837D"/>
                </a:solidFill>
                <a:latin typeface="Arial"/>
                <a:ea typeface="Arial"/>
                <a:cs typeface="Arial"/>
              </a:rPr>
              <a:t>+96,84</a:t>
            </a:r>
          </a:p>
        </p:txBody>
      </p:sp>
      <p:sp>
        <p:nvSpPr>
          <p:cNvPr id="5" name="">
            <a:extLst xmlns:a="http://schemas.openxmlformats.org/drawingml/2006/main">
              <a:ext uri="{FF2B5EF4-FFF2-40B4-BE49-F238E27FC236}">
                <a16:creationId xmlns:a16="http://schemas.microsoft.com/office/drawing/2014/main" id="{57085CC5-31C9-47B9-805D-AB0CE8E50C54}"/>
              </a:ext>
            </a:extLst>
          </p:cNvPr>
          <p:cNvSpPr>
            <a:spLocks xmlns:a="http://schemas.openxmlformats.org/drawingml/2006/main" noGrp="1"/>
          </p:cNvSpPr>
          <p:nvPr/>
        </p:nvSpPr>
        <p:spPr>
          <a:xfrm xmlns:a="http://schemas.openxmlformats.org/drawingml/2006/main">
            <a:off x="8667750" y="2638425"/>
            <a:ext cx="2762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D46"/>
                </a:solidFill>
                <a:latin typeface="Arial"/>
                <a:ea typeface="Arial"/>
                <a:cs typeface="Arial"/>
              </a:defRPr>
            </a:defPPr>
          </a:lstStyle>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điểm phần trăm</a:t>
            </a:r>
          </a:p>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Hiệu ứng trung bình</a:t>
            </a:r>
          </a:p>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của can thiệp slots</a:t>
            </a:r>
          </a:p>
        </p:txBody>
      </p:sp>
      <p:sp>
        <p:nvSpPr>
          <p:cNvPr id="6" name="">
            <a:extLst xmlns:a="http://schemas.openxmlformats.org/drawingml/2006/main">
              <a:ext uri="{FF2B5EF4-FFF2-40B4-BE49-F238E27FC236}">
                <a16:creationId xmlns:a16="http://schemas.microsoft.com/office/drawing/2014/main" id="{12909AA2-61F8-45BE-ADBB-BF3E31E15350}"/>
              </a:ext>
            </a:extLst>
          </p:cNvPr>
          <p:cNvSpPr>
            <a:spLocks xmlns:a="http://schemas.openxmlformats.org/drawingml/2006/main" noGrp="1"/>
          </p:cNvSpPr>
          <p:nvPr/>
        </p:nvSpPr>
        <p:spPr>
          <a:xfrm xmlns:a="http://schemas.openxmlformats.org/drawingml/2006/main">
            <a:off x="8667750" y="4429125"/>
            <a:ext cx="2809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32D46"/>
                </a:solidFill>
                <a:latin typeface="Arial"/>
                <a:ea typeface="Arial"/>
                <a:cs typeface="Arial"/>
              </a:defRPr>
            </a:defPPr>
          </a:lstStyle>
          <a:p xmlns:a="http://schemas.openxmlformats.org/drawingml/2006/main">
            <a:pPr algn="l">
              <a:defRPr sz="1875" b="0">
                <a:solidFill>
                  <a:srgbClr val="132D46"/>
                </a:solidFill>
                <a:latin typeface="Arial"/>
                <a:ea typeface="Arial"/>
                <a:cs typeface="Arial"/>
              </a:defRPr>
            </a:pPr>
            <a:r>
              <a:rPr sz="1875" b="0">
                <a:solidFill>
                  <a:srgbClr val="132D46"/>
                </a:solidFill>
                <a:latin typeface="Arial"/>
                <a:ea typeface="Arial"/>
                <a:cs typeface="Arial"/>
              </a:rPr>
              <a:t>800 yêu cầu/s</a:t>
            </a:r>
          </a:p>
          <a:p xmlns:a="http://schemas.openxmlformats.org/drawingml/2006/main">
            <a:pPr algn="l">
              <a:defRPr sz="1875" b="0">
                <a:solidFill>
                  <a:srgbClr val="132D46"/>
                </a:solidFill>
                <a:latin typeface="Arial"/>
                <a:ea typeface="Arial"/>
                <a:cs typeface="Arial"/>
              </a:defRPr>
            </a:pPr>
            <a:r>
              <a:rPr sz="1875" b="0">
                <a:solidFill>
                  <a:srgbClr val="132D46"/>
                </a:solidFill>
                <a:latin typeface="Arial"/>
                <a:ea typeface="Arial"/>
                <a:cs typeface="Arial"/>
              </a:rPr>
              <a:t>3 block</a:t>
            </a:r>
          </a:p>
          <a:p xmlns:a="http://schemas.openxmlformats.org/drawingml/2006/main">
            <a:pPr algn="l">
              <a:defRPr sz="1875" b="0">
                <a:solidFill>
                  <a:srgbClr val="132D46"/>
                </a:solidFill>
                <a:latin typeface="Arial"/>
                <a:ea typeface="Arial"/>
                <a:cs typeface="Arial"/>
              </a:defRPr>
            </a:pPr>
            <a:r>
              <a:rPr sz="1875" b="0">
                <a:solidFill>
                  <a:srgbClr val="132D46"/>
                </a:solidFill>
                <a:latin typeface="Arial"/>
                <a:ea typeface="Arial"/>
                <a:cs typeface="Arial"/>
              </a:rPr>
              <a:t>36.000 request/điều kiện</a:t>
            </a:r>
          </a:p>
        </p:txBody>
      </p:sp>
      <p:sp>
        <p:nvSpPr>
          <p:cNvPr id="7" name="">
            <a:extLst xmlns:a="http://schemas.openxmlformats.org/drawingml/2006/main">
              <a:ext uri="{FF2B5EF4-FFF2-40B4-BE49-F238E27FC236}">
                <a16:creationId xmlns:a16="http://schemas.microsoft.com/office/drawing/2014/main" id="{7EEEA1CF-D0AD-40B4-B11F-0BF566F7AE30}"/>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Tỷ lệ gộp các request quan sát. Hiệu ứng tính theo block. 100% chỉ trong cửa sổ đã đo.</a:t>
            </a:r>
          </a:p>
        </p:txBody>
      </p:sp>
    </p:spTree>
    <p:extLst>
      <p:ext uri="{BB962C8B-B14F-4D97-AF65-F5344CB8AC3E}">
        <p14:creationId xmlns:p14="http://schemas.microsoft.com/office/powerpoint/2010/main" val="1793710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9F912D-9CC6-4F33-8E65-318CE4173B71}"/>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P95 cho thấy độ trễ tăng mạnh ở 8 slots</a:t>
            </a:r>
          </a:p>
        </p:txBody>
      </p:sp>
      <p:sp>
        <p:nvSpPr>
          <p:cNvPr id="2" name="">
            <a:extLst xmlns:a="http://schemas.openxmlformats.org/drawingml/2006/main">
              <a:ext uri="{FF2B5EF4-FFF2-40B4-BE49-F238E27FC236}">
                <a16:creationId xmlns:a16="http://schemas.microsoft.com/office/drawing/2014/main" id="{605E45C3-9E45-4112-AAAD-1E4A6F5B3AE9}"/>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CB020757-28E3-4D62-AA9F-BFC9EB048D21}"/>
              </a:ext>
            </a:extLst>
          </p:cNvPr>
          <p:cNvGraphicFramePr/>
          <p:nvPr/>
        </p:nvGraphicFramePr>
        <p:xfrm>
          <a:off xmlns:a="http://schemas.openxmlformats.org/drawingml/2006/main" x="609600" y="1666875"/>
          <a:ext xmlns:a="http://schemas.openxmlformats.org/drawingml/2006/main" cx="10953750" cy="3238500"/>
        </p:xfrm>
        <a:graphic xmlns:a="http://schemas.openxmlformats.org/drawingml/2006/main">
          <a:graphicData uri="http://schemas.openxmlformats.org/drawingml/2006/table">
            <a:tbl>
              <a:tblPr/>
              <a:tblGrid>
                <a:gridCol w="2667000"/>
                <a:gridCol w="1809750"/>
                <a:gridCol w="6477000"/>
              </a:tblGrid>
              <a:tr h="647700">
                <a:tc>
                  <a:txBody>
                    <a:bodyPr lIns="114300" tIns="114300" rIns="114300" bIns="114300"/>
                    <a:lstStyle/>
                    <a:p>
                      <a:r>
                        <a:rPr sz="2250" b="1">
                          <a:solidFill>
                            <a:srgbClr val="FFFFFF"/>
                          </a:solidFill>
                          <a:latin typeface="Arial"/>
                          <a:ea typeface="Arial"/>
                          <a:cs typeface="Arial"/>
                        </a:rPr>
                        <a:t>Đường mạng</a:t>
                      </a:r>
                    </a:p>
                  </a:txBody>
                  <a:tcPr marL="91440" marR="91440" marT="45720" marB="45720" anchor="ctr">
                    <a:lnL w="9525">
                      <a:solidFill>
                        <a:srgbClr val="D5E0E7"/>
                      </a:solidFill>
                      <a:prstDash val="solid"/>
                    </a:lnL>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2250" b="1">
                          <a:solidFill>
                            <a:srgbClr val="FFFFFF"/>
                          </a:solidFill>
                          <a:latin typeface="Arial"/>
                          <a:ea typeface="Arial"/>
                          <a:cs typeface="Arial"/>
                        </a:rPr>
                        <a:t>Slots</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2250" b="1">
                          <a:solidFill>
                            <a:srgbClr val="FFFFFF"/>
                          </a:solidFill>
                          <a:latin typeface="Arial"/>
                          <a:ea typeface="Arial"/>
                          <a:cs typeface="Arial"/>
                        </a:rPr>
                        <a:t>P95 từng block (ms)</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r>
              <a:tr h="647700">
                <a:tc>
                  <a:txBody>
                    <a:bodyPr lIns="114300" tIns="114300" rIns="114300" bIns="114300"/>
                    <a:lstStyle/>
                    <a:p>
                      <a:r>
                        <a:rPr sz="2250" b="0">
                          <a:solidFill>
                            <a:srgbClr val="132D46"/>
                          </a:solidFill>
                          <a:latin typeface="Arial"/>
                          <a:ea typeface="Arial"/>
                          <a:cs typeface="Arial"/>
                        </a:rPr>
                        <a:t>Peering</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250" b="0">
                          <a:solidFill>
                            <a:srgbClr val="132D46"/>
                          </a:solidFill>
                          <a:latin typeface="Arial"/>
                          <a:ea typeface="Arial"/>
                          <a:cs typeface="Arial"/>
                        </a:rPr>
                        <a:t>8</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250" b="0">
                          <a:solidFill>
                            <a:srgbClr val="132D46"/>
                          </a:solidFill>
                          <a:latin typeface="Arial"/>
                          <a:ea typeface="Arial"/>
                          <a:cs typeface="Arial"/>
                        </a:rPr>
                        <a:t>1.350,096–1.499,226</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647700">
                <a:tc>
                  <a:txBody>
                    <a:bodyPr lIns="114300" tIns="114300" rIns="114300" bIns="114300"/>
                    <a:lstStyle/>
                    <a:p>
                      <a:r>
                        <a:rPr sz="2250" b="0">
                          <a:solidFill>
                            <a:srgbClr val="132D46"/>
                          </a:solidFill>
                          <a:latin typeface="Arial"/>
                          <a:ea typeface="Arial"/>
                          <a:cs typeface="Arial"/>
                        </a:rPr>
                        <a:t>Peering</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250" b="0">
                          <a:solidFill>
                            <a:srgbClr val="132D46"/>
                          </a:solidFill>
                          <a:latin typeface="Arial"/>
                          <a:ea typeface="Arial"/>
                          <a:cs typeface="Arial"/>
                        </a:rPr>
                        <a:t>16</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250" b="0">
                          <a:solidFill>
                            <a:srgbClr val="132D46"/>
                          </a:solidFill>
                          <a:latin typeface="Arial"/>
                          <a:ea typeface="Arial"/>
                          <a:cs typeface="Arial"/>
                        </a:rPr>
                        <a:t>12,651–12,698</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r h="647700">
                <a:tc>
                  <a:txBody>
                    <a:bodyPr lIns="114300" tIns="114300" rIns="114300" bIns="114300"/>
                    <a:lstStyle/>
                    <a:p>
                      <a:r>
                        <a:rPr sz="2250" b="0">
                          <a:solidFill>
                            <a:srgbClr val="132D46"/>
                          </a:solidFill>
                          <a:latin typeface="Arial"/>
                          <a:ea typeface="Arial"/>
                          <a:cs typeface="Arial"/>
                        </a:rPr>
                        <a:t>TGW</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250" b="0">
                          <a:solidFill>
                            <a:srgbClr val="132D46"/>
                          </a:solidFill>
                          <a:latin typeface="Arial"/>
                          <a:ea typeface="Arial"/>
                          <a:cs typeface="Arial"/>
                        </a:rPr>
                        <a:t>8</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250" b="0">
                          <a:solidFill>
                            <a:srgbClr val="132D46"/>
                          </a:solidFill>
                          <a:latin typeface="Arial"/>
                          <a:ea typeface="Arial"/>
                          <a:cs typeface="Arial"/>
                        </a:rPr>
                        <a:t>1.225,784–1.327,874</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647700">
                <a:tc>
                  <a:txBody>
                    <a:bodyPr lIns="114300" tIns="114300" rIns="114300" bIns="114300"/>
                    <a:lstStyle/>
                    <a:p>
                      <a:r>
                        <a:rPr sz="2250" b="0">
                          <a:solidFill>
                            <a:srgbClr val="132D46"/>
                          </a:solidFill>
                          <a:latin typeface="Arial"/>
                          <a:ea typeface="Arial"/>
                          <a:cs typeface="Arial"/>
                        </a:rPr>
                        <a:t>TGW</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250" b="0">
                          <a:solidFill>
                            <a:srgbClr val="132D46"/>
                          </a:solidFill>
                          <a:latin typeface="Arial"/>
                          <a:ea typeface="Arial"/>
                          <a:cs typeface="Arial"/>
                        </a:rPr>
                        <a:t>16</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250" b="0">
                          <a:solidFill>
                            <a:srgbClr val="132D46"/>
                          </a:solidFill>
                          <a:latin typeface="Arial"/>
                          <a:ea typeface="Arial"/>
                          <a:cs typeface="Arial"/>
                        </a:rPr>
                        <a:t>12,875–13,248</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bl>
          </a:graphicData>
        </a:graphic>
      </p:graphicFrame>
      <p:sp>
        <p:nvSpPr>
          <p:cNvPr id="4" name="">
            <a:extLst xmlns:a="http://schemas.openxmlformats.org/drawingml/2006/main">
              <a:ext uri="{FF2B5EF4-FFF2-40B4-BE49-F238E27FC236}">
                <a16:creationId xmlns:a16="http://schemas.microsoft.com/office/drawing/2014/main" id="{5FA24D1E-7189-46F7-96DA-EBC9B3291107}"/>
              </a:ext>
            </a:extLst>
          </p:cNvPr>
          <p:cNvSpPr>
            <a:spLocks xmlns:a="http://schemas.openxmlformats.org/drawingml/2006/main" noGrp="1"/>
          </p:cNvSpPr>
          <p:nvPr/>
        </p:nvSpPr>
        <p:spPr>
          <a:xfrm xmlns:a="http://schemas.openxmlformats.org/drawingml/2006/main">
            <a:off x="609600" y="530542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837D"/>
                </a:solidFill>
                <a:latin typeface="Arial"/>
                <a:ea typeface="Arial"/>
                <a:cs typeface="Arial"/>
              </a:defRPr>
            </a:defPPr>
          </a:lstStyle>
          <a:p xmlns:a="http://schemas.openxmlformats.org/drawingml/2006/main">
            <a:pPr algn="l">
              <a:defRPr sz="2175" b="1">
                <a:solidFill>
                  <a:srgbClr val="00837D"/>
                </a:solidFill>
                <a:latin typeface="Arial"/>
                <a:ea typeface="Arial"/>
                <a:cs typeface="Arial"/>
              </a:defRPr>
            </a:pPr>
            <a:r>
              <a:rPr sz="2175" b="1">
                <a:solidFill>
                  <a:srgbClr val="00837D"/>
                </a:solidFill>
                <a:latin typeface="Arial"/>
                <a:ea typeface="Arial"/>
                <a:cs typeface="Arial"/>
              </a:rPr>
              <a:t>Ở 600 yêu cầu/s: cả 4 điều kiện đạt 100% đúng hạn</a:t>
            </a:r>
          </a:p>
          <a:p xmlns:a="http://schemas.openxmlformats.org/drawingml/2006/main">
            <a:pPr algn="l">
              <a:defRPr sz="2175" b="1">
                <a:solidFill>
                  <a:srgbClr val="00837D"/>
                </a:solidFill>
                <a:latin typeface="Arial"/>
                <a:ea typeface="Arial"/>
                <a:cs typeface="Arial"/>
              </a:defRPr>
            </a:pPr>
            <a:r>
              <a:rPr sz="2175" b="1">
                <a:solidFill>
                  <a:srgbClr val="00837D"/>
                </a:solidFill>
                <a:latin typeface="Arial"/>
                <a:ea typeface="Arial"/>
                <a:cs typeface="Arial"/>
              </a:rPr>
              <a:t>trong dữ liệu đã thu.</a:t>
            </a:r>
          </a:p>
        </p:txBody>
      </p:sp>
      <p:sp>
        <p:nvSpPr>
          <p:cNvPr id="5" name="">
            <a:extLst xmlns:a="http://schemas.openxmlformats.org/drawingml/2006/main">
              <a:ext uri="{FF2B5EF4-FFF2-40B4-BE49-F238E27FC236}">
                <a16:creationId xmlns:a16="http://schemas.microsoft.com/office/drawing/2014/main" id="{2CD15917-3297-4DAB-A067-93F424C19419}"/>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Min–max của P95 trong 3 block, không phải CI hoặc P95 gộp. Chỉ xét hoàn thành thành công.</a:t>
            </a:r>
          </a:p>
        </p:txBody>
      </p:sp>
    </p:spTree>
    <p:extLst>
      <p:ext uri="{BB962C8B-B14F-4D97-AF65-F5344CB8AC3E}">
        <p14:creationId xmlns:p14="http://schemas.microsoft.com/office/powerpoint/2010/main" val="14434103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8394E1-A62C-4D00-A46C-407CBCDB53CF}"/>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Định luật Little giải thích số lời gọi chờ</a:t>
            </a:r>
          </a:p>
        </p:txBody>
      </p:sp>
      <p:sp>
        <p:nvSpPr>
          <p:cNvPr id="2" name="">
            <a:extLst xmlns:a="http://schemas.openxmlformats.org/drawingml/2006/main">
              <a:ext uri="{FF2B5EF4-FFF2-40B4-BE49-F238E27FC236}">
                <a16:creationId xmlns:a16="http://schemas.microsoft.com/office/drawing/2014/main" id="{70A0958F-36A0-42B7-9C1C-D428D8EFD9F4}"/>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82F5A58-1ED5-4D8F-ADA4-333C7EF03231}"/>
              </a:ext>
            </a:extLst>
          </p:cNvPr>
          <p:cNvSpPr>
            <a:spLocks xmlns:a="http://schemas.openxmlformats.org/drawingml/2006/main" noGrp="1"/>
          </p:cNvSpPr>
          <p:nvPr/>
        </p:nvSpPr>
        <p:spPr>
          <a:xfrm xmlns:a="http://schemas.openxmlformats.org/drawingml/2006/main">
            <a:off x="609600" y="1524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00837D"/>
                </a:solidFill>
                <a:latin typeface="Arial"/>
                <a:ea typeface="Arial"/>
                <a:cs typeface="Arial"/>
              </a:defRPr>
            </a:defPPr>
          </a:lstStyle>
          <a:p xmlns:a="http://schemas.openxmlformats.org/drawingml/2006/main">
            <a:pPr algn="l">
              <a:defRPr sz="4875" b="1">
                <a:solidFill>
                  <a:srgbClr val="00837D"/>
                </a:solidFill>
                <a:latin typeface="Arial"/>
                <a:ea typeface="Arial"/>
                <a:cs typeface="Arial"/>
              </a:defRPr>
            </a:pPr>
            <a:r>
              <a:rPr sz="4875" b="1">
                <a:solidFill>
                  <a:srgbClr val="00837D"/>
                </a:solidFill>
                <a:latin typeface="Arial"/>
                <a:ea typeface="Arial"/>
                <a:cs typeface="Arial"/>
              </a:rPr>
              <a:t>Lq = λ × Wq</a:t>
            </a:r>
          </a:p>
        </p:txBody>
      </p:sp>
      <p:sp>
        <p:nvSpPr>
          <p:cNvPr id="4" name="">
            <a:extLst xmlns:a="http://schemas.openxmlformats.org/drawingml/2006/main">
              <a:ext uri="{FF2B5EF4-FFF2-40B4-BE49-F238E27FC236}">
                <a16:creationId xmlns:a16="http://schemas.microsoft.com/office/drawing/2014/main" id="{5F1FFDB7-5114-4745-9E21-6BCDDC3BC6F6}"/>
              </a:ext>
            </a:extLst>
          </p:cNvPr>
          <p:cNvSpPr>
            <a:spLocks xmlns:a="http://schemas.openxmlformats.org/drawingml/2006/main" noGrp="1"/>
          </p:cNvSpPr>
          <p:nvPr/>
        </p:nvSpPr>
        <p:spPr>
          <a:xfrm xmlns:a="http://schemas.openxmlformats.org/drawingml/2006/main">
            <a:off x="609600" y="252412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32D46"/>
                </a:solidFill>
                <a:latin typeface="Arial"/>
                <a:ea typeface="Arial"/>
                <a:cs typeface="Arial"/>
              </a:defRPr>
            </a:defPPr>
          </a:lstStyle>
          <a:p xmlns:a="http://schemas.openxmlformats.org/drawingml/2006/main">
            <a:pPr algn="l">
              <a:defRPr sz="2250" b="0">
                <a:solidFill>
                  <a:srgbClr val="132D46"/>
                </a:solidFill>
                <a:latin typeface="Arial"/>
                <a:ea typeface="Arial"/>
                <a:cs typeface="Arial"/>
              </a:defRPr>
            </a:pPr>
            <a:r>
              <a:rPr sz="2250" b="0">
                <a:solidFill>
                  <a:srgbClr val="132D46"/>
                </a:solidFill>
                <a:latin typeface="Arial"/>
                <a:ea typeface="Arial"/>
                <a:cs typeface="Arial"/>
              </a:rPr>
              <a:t>Lq: số lời gọi chờ trung bình</a:t>
            </a:r>
          </a:p>
          <a:p xmlns:a="http://schemas.openxmlformats.org/drawingml/2006/main">
            <a:pPr algn="l">
              <a:defRPr sz="2250" b="0">
                <a:solidFill>
                  <a:srgbClr val="132D46"/>
                </a:solidFill>
                <a:latin typeface="Arial"/>
                <a:ea typeface="Arial"/>
                <a:cs typeface="Arial"/>
              </a:defRPr>
            </a:pPr>
            <a:r>
              <a:rPr sz="2250" b="0">
                <a:solidFill>
                  <a:srgbClr val="132D46"/>
                </a:solidFill>
                <a:latin typeface="Arial"/>
                <a:ea typeface="Arial"/>
                <a:cs typeface="Arial"/>
              </a:rPr>
              <a:t>λ: tốc độ vào worker (lời gọi/s)</a:t>
            </a:r>
          </a:p>
          <a:p xmlns:a="http://schemas.openxmlformats.org/drawingml/2006/main">
            <a:pPr algn="l">
              <a:defRPr sz="2250" b="0">
                <a:solidFill>
                  <a:srgbClr val="132D46"/>
                </a:solidFill>
                <a:latin typeface="Arial"/>
                <a:ea typeface="Arial"/>
                <a:cs typeface="Arial"/>
              </a:defRPr>
            </a:pPr>
            <a:r>
              <a:rPr sz="2250" b="0">
                <a:solidFill>
                  <a:srgbClr val="132D46"/>
                </a:solidFill>
                <a:latin typeface="Arial"/>
                <a:ea typeface="Arial"/>
                <a:cs typeface="Arial"/>
              </a:rPr>
              <a:t>Wq: thời gian chờ trung bình (s)</a:t>
            </a:r>
          </a:p>
        </p:txBody>
      </p:sp>
      <p:sp>
        <p:nvSpPr>
          <p:cNvPr id="5" name="">
            <a:extLst xmlns:a="http://schemas.openxmlformats.org/drawingml/2006/main">
              <a:ext uri="{FF2B5EF4-FFF2-40B4-BE49-F238E27FC236}">
                <a16:creationId xmlns:a16="http://schemas.microsoft.com/office/drawing/2014/main" id="{7E4D4273-F92C-4D54-9B2A-6BED1908B554}"/>
              </a:ext>
            </a:extLst>
          </p:cNvPr>
          <p:cNvSpPr>
            <a:spLocks xmlns:a="http://schemas.openxmlformats.org/drawingml/2006/main" noGrp="1"/>
          </p:cNvSpPr>
          <p:nvPr/>
        </p:nvSpPr>
        <p:spPr>
          <a:xfrm xmlns:a="http://schemas.openxmlformats.org/drawingml/2006/main">
            <a:off x="5762625" y="265747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32D46"/>
                </a:solidFill>
                <a:latin typeface="Arial"/>
                <a:ea typeface="Arial"/>
                <a:cs typeface="Arial"/>
              </a:defRPr>
            </a:defPPr>
          </a:lstStyle>
          <a:p xmlns:a="http://schemas.openxmlformats.org/drawingml/2006/main">
            <a:pPr algn="l">
              <a:defRPr sz="2775" b="1">
                <a:solidFill>
                  <a:srgbClr val="132D46"/>
                </a:solidFill>
                <a:latin typeface="Arial"/>
                <a:ea typeface="Arial"/>
                <a:cs typeface="Arial"/>
              </a:defRPr>
            </a:pPr>
            <a:r>
              <a:rPr sz="2775" b="1">
                <a:solidFill>
                  <a:srgbClr val="132D46"/>
                </a:solidFill>
                <a:latin typeface="Arial"/>
                <a:ea typeface="Arial"/>
                <a:cs typeface="Arial"/>
              </a:rPr>
              <a:t>732,287 × 0,700951</a:t>
            </a:r>
          </a:p>
        </p:txBody>
      </p:sp>
      <p:sp>
        <p:nvSpPr>
          <p:cNvPr id="6" name="">
            <a:extLst xmlns:a="http://schemas.openxmlformats.org/drawingml/2006/main">
              <a:ext uri="{FF2B5EF4-FFF2-40B4-BE49-F238E27FC236}">
                <a16:creationId xmlns:a16="http://schemas.microsoft.com/office/drawing/2014/main" id="{7243B854-CCFF-426E-ACC6-C6717EC95A73}"/>
              </a:ext>
            </a:extLst>
          </p:cNvPr>
          <p:cNvSpPr>
            <a:spLocks xmlns:a="http://schemas.openxmlformats.org/drawingml/2006/main" noGrp="1"/>
          </p:cNvSpPr>
          <p:nvPr/>
        </p:nvSpPr>
        <p:spPr>
          <a:xfrm xmlns:a="http://schemas.openxmlformats.org/drawingml/2006/main">
            <a:off x="5762625" y="3476625"/>
            <a:ext cx="581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D86A24"/>
                </a:solidFill>
                <a:latin typeface="Arial"/>
                <a:ea typeface="Arial"/>
                <a:cs typeface="Arial"/>
              </a:defRPr>
            </a:defPPr>
          </a:lstStyle>
          <a:p xmlns:a="http://schemas.openxmlformats.org/drawingml/2006/main">
            <a:pPr algn="l">
              <a:defRPr sz="2850" b="1">
                <a:solidFill>
                  <a:srgbClr val="D86A24"/>
                </a:solidFill>
                <a:latin typeface="Arial"/>
                <a:ea typeface="Arial"/>
                <a:cs typeface="Arial"/>
              </a:defRPr>
            </a:pPr>
            <a:r>
              <a:rPr sz="2850" b="1">
                <a:solidFill>
                  <a:srgbClr val="D86A24"/>
                </a:solidFill>
                <a:latin typeface="Arial"/>
                <a:ea typeface="Arial"/>
                <a:cs typeface="Arial"/>
              </a:rPr>
              <a:t>≈ 513,297 lời gọi chờ</a:t>
            </a:r>
          </a:p>
        </p:txBody>
      </p:sp>
      <p:sp>
        <p:nvSpPr>
          <p:cNvPr id="7" name="">
            <a:extLst xmlns:a="http://schemas.openxmlformats.org/drawingml/2006/main">
              <a:ext uri="{FF2B5EF4-FFF2-40B4-BE49-F238E27FC236}">
                <a16:creationId xmlns:a16="http://schemas.microsoft.com/office/drawing/2014/main" id="{3CFE447F-8768-476D-B4BC-A39C7B0F5603}"/>
              </a:ext>
            </a:extLst>
          </p:cNvPr>
          <p:cNvSpPr>
            <a:spLocks xmlns:a="http://schemas.openxmlformats.org/drawingml/2006/main" noGrp="1"/>
          </p:cNvSpPr>
          <p:nvPr/>
        </p:nvSpPr>
        <p:spPr>
          <a:xfrm xmlns:a="http://schemas.openxmlformats.org/drawingml/2006/main">
            <a:off x="609600" y="47339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32D46"/>
                </a:solidFill>
                <a:latin typeface="Arial"/>
                <a:ea typeface="Arial"/>
                <a:cs typeface="Arial"/>
              </a:defRPr>
            </a:defPPr>
          </a:lstStyle>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Worker C · Peering · 800 rps · block 3</a:t>
            </a:r>
          </a:p>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8 slots: Wq ≈ 700,951 ms</a:t>
            </a:r>
          </a:p>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16 slots: Wq ≈ 0,005239 ms</a:t>
            </a:r>
          </a:p>
        </p:txBody>
      </p:sp>
      <p:sp>
        <p:nvSpPr>
          <p:cNvPr id="8" name="">
            <a:extLst xmlns:a="http://schemas.openxmlformats.org/drawingml/2006/main">
              <a:ext uri="{FF2B5EF4-FFF2-40B4-BE49-F238E27FC236}">
                <a16:creationId xmlns:a16="http://schemas.microsoft.com/office/drawing/2014/main" id="{4EEFD3A1-5DB0-477B-94F9-627DCB0C9E59}"/>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Arrival: trang PDF 62–66. Cửa sổ chứa trọn cohort và đuôi xử lý. Kiểm tra nhất quán log.</a:t>
            </a:r>
          </a:p>
        </p:txBody>
      </p:sp>
    </p:spTree>
    <p:extLst>
      <p:ext uri="{BB962C8B-B14F-4D97-AF65-F5344CB8AC3E}">
        <p14:creationId xmlns:p14="http://schemas.microsoft.com/office/powerpoint/2010/main" val="7603748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88B3B9-BE7D-4066-8D0C-73277A9CEBA5}"/>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8 slots gần công suất phục vụ danh nghĩa</a:t>
            </a:r>
          </a:p>
        </p:txBody>
      </p:sp>
      <p:sp>
        <p:nvSpPr>
          <p:cNvPr id="2" name="">
            <a:extLst xmlns:a="http://schemas.openxmlformats.org/drawingml/2006/main">
              <a:ext uri="{FF2B5EF4-FFF2-40B4-BE49-F238E27FC236}">
                <a16:creationId xmlns:a16="http://schemas.microsoft.com/office/drawing/2014/main" id="{43BC5C60-6647-406B-961C-8E0E75A916F7}"/>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459FADF0-4377-4DD8-BEBE-71464D14129C}"/>
              </a:ext>
            </a:extLst>
          </p:cNvPr>
          <p:cNvSpPr>
            <a:spLocks xmlns:a="http://schemas.openxmlformats.org/drawingml/2006/main" noGrp="1"/>
          </p:cNvSpPr>
          <p:nvPr/>
        </p:nvSpPr>
        <p:spPr>
          <a:xfrm xmlns:a="http://schemas.openxmlformats.org/drawingml/2006/main">
            <a:off x="609600" y="155257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0837D"/>
                </a:solidFill>
                <a:latin typeface="Arial"/>
                <a:ea typeface="Arial"/>
                <a:cs typeface="Arial"/>
              </a:defRPr>
            </a:defPPr>
          </a:lstStyle>
          <a:p xmlns:a="http://schemas.openxmlformats.org/drawingml/2006/main">
            <a:pPr algn="l">
              <a:defRPr sz="3225" b="1">
                <a:solidFill>
                  <a:srgbClr val="00837D"/>
                </a:solidFill>
                <a:latin typeface="Arial"/>
                <a:ea typeface="Arial"/>
                <a:cs typeface="Arial"/>
              </a:defRPr>
            </a:pPr>
            <a:r>
              <a:rPr sz="3225" b="1">
                <a:solidFill>
                  <a:srgbClr val="00837D"/>
                </a:solidFill>
                <a:latin typeface="Arial"/>
                <a:ea typeface="Arial"/>
                <a:cs typeface="Arial"/>
              </a:rPr>
              <a:t>μnom = M / s</a:t>
            </a:r>
          </a:p>
        </p:txBody>
      </p:sp>
      <p:sp>
        <p:nvSpPr>
          <p:cNvPr id="4" name="">
            <a:extLst xmlns:a="http://schemas.openxmlformats.org/drawingml/2006/main">
              <a:ext uri="{FF2B5EF4-FFF2-40B4-BE49-F238E27FC236}">
                <a16:creationId xmlns:a16="http://schemas.microsoft.com/office/drawing/2014/main" id="{0DEFCB3C-FC17-4282-9CA8-BEE508E56089}"/>
              </a:ext>
            </a:extLst>
          </p:cNvPr>
          <p:cNvSpPr>
            <a:spLocks xmlns:a="http://schemas.openxmlformats.org/drawingml/2006/main" noGrp="1"/>
          </p:cNvSpPr>
          <p:nvPr/>
        </p:nvSpPr>
        <p:spPr>
          <a:xfrm xmlns:a="http://schemas.openxmlformats.org/drawingml/2006/main">
            <a:off x="6429375" y="155257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0837D"/>
                </a:solidFill>
                <a:latin typeface="Arial"/>
                <a:ea typeface="Arial"/>
                <a:cs typeface="Arial"/>
              </a:defRPr>
            </a:defPPr>
          </a:lstStyle>
          <a:p xmlns:a="http://schemas.openxmlformats.org/drawingml/2006/main">
            <a:pPr algn="l">
              <a:defRPr sz="3225" b="1">
                <a:solidFill>
                  <a:srgbClr val="00837D"/>
                </a:solidFill>
                <a:latin typeface="Arial"/>
                <a:ea typeface="Arial"/>
                <a:cs typeface="Arial"/>
              </a:defRPr>
            </a:pPr>
            <a:r>
              <a:rPr sz="3225" b="1">
                <a:solidFill>
                  <a:srgbClr val="00837D"/>
                </a:solidFill>
                <a:latin typeface="Arial"/>
                <a:ea typeface="Arial"/>
                <a:cs typeface="Arial"/>
              </a:rPr>
              <a:t>ρnom = λcfg × s / M</a:t>
            </a:r>
          </a:p>
        </p:txBody>
      </p:sp>
      <p:sp>
        <p:nvSpPr>
          <p:cNvPr id="5" name="">
            <a:extLst xmlns:a="http://schemas.openxmlformats.org/drawingml/2006/main">
              <a:ext uri="{FF2B5EF4-FFF2-40B4-BE49-F238E27FC236}">
                <a16:creationId xmlns:a16="http://schemas.microsoft.com/office/drawing/2014/main" id="{7E5EDEA2-E473-406B-897C-8E6B6E941811}"/>
              </a:ext>
            </a:extLst>
          </p:cNvPr>
          <p:cNvSpPr>
            <a:spLocks xmlns:a="http://schemas.openxmlformats.org/drawingml/2006/main" noGrp="1"/>
          </p:cNvSpPr>
          <p:nvPr/>
        </p:nvSpPr>
        <p:spPr>
          <a:xfrm xmlns:a="http://schemas.openxmlformats.org/drawingml/2006/main">
            <a:off x="609600" y="2419350"/>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32D46"/>
                </a:solidFill>
                <a:latin typeface="Arial"/>
                <a:ea typeface="Arial"/>
                <a:cs typeface="Arial"/>
              </a:defRPr>
            </a:defPPr>
          </a:lstStyle>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M: slots trên một worker. s = 0,010 s/lời gọi.</a:t>
            </a:r>
          </a:p>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λcfg: tải cấu hình trên từng worker.</a:t>
            </a:r>
          </a:p>
        </p:txBody>
      </p:sp>
      <p:graphicFrame>
        <p:nvGraphicFramePr>
          <p:cNvPr id="6" name="">
            <a:extLst xmlns:a="http://schemas.openxmlformats.org/drawingml/2006/main">
              <a:ext uri="{FF2B5EF4-FFF2-40B4-BE49-F238E27FC236}">
                <a16:creationId xmlns:a16="http://schemas.microsoft.com/office/drawing/2014/main" id="{66915473-51C4-4036-BF14-2F96CF82C696}"/>
              </a:ext>
            </a:extLst>
          </p:cNvPr>
          <p:cNvGraphicFramePr/>
          <p:nvPr/>
        </p:nvGraphicFramePr>
        <p:xfrm>
          <a:off xmlns:a="http://schemas.openxmlformats.org/drawingml/2006/main" x="609600" y="3476625"/>
          <a:ext xmlns:a="http://schemas.openxmlformats.org/drawingml/2006/main" cx="10953750" cy="2286000"/>
        </p:xfrm>
        <a:graphic xmlns:a="http://schemas.openxmlformats.org/drawingml/2006/main">
          <a:graphicData uri="http://schemas.openxmlformats.org/drawingml/2006/table">
            <a:tbl>
              <a:tblPr/>
              <a:tblGrid>
                <a:gridCol w="2762250"/>
                <a:gridCol w="1571625"/>
                <a:gridCol w="4048125"/>
                <a:gridCol w="2571750"/>
              </a:tblGrid>
              <a:tr h="571500">
                <a:tc>
                  <a:txBody>
                    <a:bodyPr lIns="114300" tIns="114300" rIns="114300" bIns="114300"/>
                    <a:lstStyle/>
                    <a:p>
                      <a:r>
                        <a:rPr sz="2025" b="1">
                          <a:solidFill>
                            <a:srgbClr val="FFFFFF"/>
                          </a:solidFill>
                          <a:latin typeface="Arial"/>
                          <a:ea typeface="Arial"/>
                          <a:cs typeface="Arial"/>
                        </a:rPr>
                        <a:t>Tải / worker</a:t>
                      </a:r>
                    </a:p>
                  </a:txBody>
                  <a:tcPr marL="91440" marR="91440" marT="45720" marB="45720" anchor="ctr">
                    <a:lnL w="9525">
                      <a:solidFill>
                        <a:srgbClr val="D5E0E7"/>
                      </a:solidFill>
                      <a:prstDash val="solid"/>
                    </a:lnL>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2025" b="1">
                          <a:solidFill>
                            <a:srgbClr val="FFFFFF"/>
                          </a:solidFill>
                          <a:latin typeface="Arial"/>
                          <a:ea typeface="Arial"/>
                          <a:cs typeface="Arial"/>
                        </a:rPr>
                        <a:t>Slots</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2025" b="1">
                          <a:solidFill>
                            <a:srgbClr val="FFFFFF"/>
                          </a:solidFill>
                          <a:latin typeface="Arial"/>
                          <a:ea typeface="Arial"/>
                          <a:cs typeface="Arial"/>
                        </a:rPr>
                        <a:t>μnom (lời gọi/s)</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2025" b="1">
                          <a:solidFill>
                            <a:srgbClr val="FFFFFF"/>
                          </a:solidFill>
                          <a:latin typeface="Arial"/>
                          <a:ea typeface="Arial"/>
                          <a:cs typeface="Arial"/>
                        </a:rPr>
                        <a:t>ρnom</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r>
              <a:tr h="571500">
                <a:tc>
                  <a:txBody>
                    <a:bodyPr lIns="114300" tIns="114300" rIns="114300" bIns="114300"/>
                    <a:lstStyle/>
                    <a:p>
                      <a:r>
                        <a:rPr sz="2025" b="0">
                          <a:solidFill>
                            <a:srgbClr val="132D46"/>
                          </a:solidFill>
                          <a:latin typeface="Arial"/>
                          <a:ea typeface="Arial"/>
                          <a:cs typeface="Arial"/>
                        </a:rPr>
                        <a:t>600 /s</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8</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800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0,75</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571500">
                <a:tc>
                  <a:txBody>
                    <a:bodyPr lIns="114300" tIns="114300" rIns="114300" bIns="114300"/>
                    <a:lstStyle/>
                    <a:p>
                      <a:r>
                        <a:rPr sz="2025" b="0">
                          <a:solidFill>
                            <a:srgbClr val="132D46"/>
                          </a:solidFill>
                          <a:latin typeface="Arial"/>
                          <a:ea typeface="Arial"/>
                          <a:cs typeface="Arial"/>
                        </a:rPr>
                        <a:t>800 /s</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025" b="0">
                          <a:solidFill>
                            <a:srgbClr val="132D46"/>
                          </a:solidFill>
                          <a:latin typeface="Arial"/>
                          <a:ea typeface="Arial"/>
                          <a:cs typeface="Arial"/>
                        </a:rPr>
                        <a:t>8</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025" b="0">
                          <a:solidFill>
                            <a:srgbClr val="132D46"/>
                          </a:solidFill>
                          <a:latin typeface="Arial"/>
                          <a:ea typeface="Arial"/>
                          <a:cs typeface="Arial"/>
                        </a:rPr>
                        <a:t>800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025" b="0">
                          <a:solidFill>
                            <a:srgbClr val="132D46"/>
                          </a:solidFill>
                          <a:latin typeface="Arial"/>
                          <a:ea typeface="Arial"/>
                          <a:cs typeface="Arial"/>
                        </a:rPr>
                        <a:t>1,00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r h="571500">
                <a:tc>
                  <a:txBody>
                    <a:bodyPr lIns="114300" tIns="114300" rIns="114300" bIns="114300"/>
                    <a:lstStyle/>
                    <a:p>
                      <a:r>
                        <a:rPr sz="2025" b="0">
                          <a:solidFill>
                            <a:srgbClr val="132D46"/>
                          </a:solidFill>
                          <a:latin typeface="Arial"/>
                          <a:ea typeface="Arial"/>
                          <a:cs typeface="Arial"/>
                        </a:rPr>
                        <a:t>800 /s</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16</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1.600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0,50</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E8E059F-B848-4CC8-84BA-65ED4961D724}"/>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Ước lượng danh nghĩa từ slots và I/O mô phỏng. ρnom không phải %CPU. Arrival: trang PDF 3, 66.</a:t>
            </a:r>
          </a:p>
        </p:txBody>
      </p:sp>
    </p:spTree>
    <p:extLst>
      <p:ext uri="{BB962C8B-B14F-4D97-AF65-F5344CB8AC3E}">
        <p14:creationId xmlns:p14="http://schemas.microsoft.com/office/powerpoint/2010/main" val="17690009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734F15-710F-42B9-BA0B-844DA15EC41B}"/>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OpenTelemetry theo dõi một yêu cầu</a:t>
            </a:r>
          </a:p>
        </p:txBody>
      </p:sp>
      <p:sp>
        <p:nvSpPr>
          <p:cNvPr id="2" name="">
            <a:extLst xmlns:a="http://schemas.openxmlformats.org/drawingml/2006/main">
              <a:ext uri="{FF2B5EF4-FFF2-40B4-BE49-F238E27FC236}">
                <a16:creationId xmlns:a16="http://schemas.microsoft.com/office/drawing/2014/main" id="{7DDF946C-DF5B-4953-ABFD-2C0660958B95}"/>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A31D2691-443A-4975-9745-815609B77D44}"/>
              </a:ext>
            </a:extLst>
          </p:cNvPr>
          <p:cNvPicPr>
            <a:picLocks xmlns:a="http://schemas.openxmlformats.org/drawingml/2006/main" noChangeAspect="1"/>
          </p:cNvPicPr>
          <p:nvPr/>
        </p:nvPicPr>
        <p:blipFill>
          <a:blip xmlns:r="http://schemas.openxmlformats.org/officeDocument/2006/relationships" xmlns:a="http://schemas.openxmlformats.org/drawingml/2006/main" r:embed="R66bf8d73457a43c2"/>
          <a:stretch xmlns:a="http://schemas.openxmlformats.org/drawingml/2006/main"/>
        </p:blipFill>
        <p:spPr>
          <a:xfrm xmlns:a="http://schemas.openxmlformats.org/drawingml/2006/main">
            <a:off x="609600" y="1424747"/>
            <a:ext cx="8172450" cy="439903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A0892C-57B1-42F5-974D-63865A91AB3C}"/>
              </a:ext>
            </a:extLst>
          </p:cNvPr>
          <p:cNvSpPr>
            <a:spLocks xmlns:a="http://schemas.openxmlformats.org/drawingml/2006/main" noGrp="1"/>
          </p:cNvSpPr>
          <p:nvPr/>
        </p:nvSpPr>
        <p:spPr>
          <a:xfrm xmlns:a="http://schemas.openxmlformats.org/drawingml/2006/main">
            <a:off x="9048750" y="153352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837D"/>
                </a:solidFill>
                <a:latin typeface="Arial"/>
                <a:ea typeface="Arial"/>
                <a:cs typeface="Arial"/>
              </a:defRPr>
            </a:defPPr>
          </a:lstStyle>
          <a:p xmlns:a="http://schemas.openxmlformats.org/drawingml/2006/main">
            <a:pPr algn="l">
              <a:defRPr sz="2400" b="1">
                <a:solidFill>
                  <a:srgbClr val="00837D"/>
                </a:solidFill>
                <a:latin typeface="Arial"/>
                <a:ea typeface="Arial"/>
                <a:cs typeface="Arial"/>
              </a:defRPr>
            </a:pPr>
            <a:r>
              <a:rPr sz="2400" b="1">
                <a:solidFill>
                  <a:srgbClr val="00837D"/>
                </a:solidFill>
                <a:latin typeface="Arial"/>
                <a:ea typeface="Arial"/>
                <a:cs typeface="Arial"/>
              </a:rPr>
              <a:t>12 trace thật</a:t>
            </a:r>
          </a:p>
          <a:p xmlns:a="http://schemas.openxmlformats.org/drawingml/2006/main">
            <a:pPr algn="l">
              <a:defRPr sz="2400" b="1">
                <a:solidFill>
                  <a:srgbClr val="00837D"/>
                </a:solidFill>
                <a:latin typeface="Arial"/>
                <a:ea typeface="Arial"/>
                <a:cs typeface="Arial"/>
              </a:defRPr>
            </a:pPr>
            <a:r>
              <a:rPr sz="2400" b="1">
                <a:solidFill>
                  <a:srgbClr val="00837D"/>
                </a:solidFill>
                <a:latin typeface="Arial"/>
                <a:ea typeface="Arial"/>
                <a:cs typeface="Arial"/>
              </a:rPr>
              <a:t>120 span</a:t>
            </a:r>
          </a:p>
        </p:txBody>
      </p:sp>
      <p:sp>
        <p:nvSpPr>
          <p:cNvPr id="5" name="">
            <a:extLst xmlns:a="http://schemas.openxmlformats.org/drawingml/2006/main">
              <a:ext uri="{FF2B5EF4-FFF2-40B4-BE49-F238E27FC236}">
                <a16:creationId xmlns:a16="http://schemas.microsoft.com/office/drawing/2014/main" id="{B0AB12BC-8B92-4923-BA38-812FB4AE4E14}"/>
              </a:ext>
            </a:extLst>
          </p:cNvPr>
          <p:cNvSpPr>
            <a:spLocks xmlns:a="http://schemas.openxmlformats.org/drawingml/2006/main" noGrp="1"/>
          </p:cNvSpPr>
          <p:nvPr/>
        </p:nvSpPr>
        <p:spPr>
          <a:xfrm xmlns:a="http://schemas.openxmlformats.org/drawingml/2006/main">
            <a:off x="9048750" y="2876550"/>
            <a:ext cx="2571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32D46"/>
                </a:solidFill>
                <a:latin typeface="Arial"/>
                <a:ea typeface="Arial"/>
                <a:cs typeface="Arial"/>
              </a:defRPr>
            </a:defPPr>
          </a:lstStyle>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Collector nhận</a:t>
            </a:r>
          </a:p>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Tempo lưu</a:t>
            </a:r>
          </a:p>
          <a:p xmlns:a="http://schemas.openxmlformats.org/drawingml/2006/main">
            <a:pPr algn="l">
              <a:defRPr sz="2175" b="0">
                <a:solidFill>
                  <a:srgbClr val="132D46"/>
                </a:solidFill>
                <a:latin typeface="Arial"/>
                <a:ea typeface="Arial"/>
                <a:cs typeface="Arial"/>
              </a:defRPr>
            </a:pPr>
            <a:r>
              <a:rPr sz="2175" b="0">
                <a:solidFill>
                  <a:srgbClr val="132D46"/>
                </a:solidFill>
                <a:latin typeface="Arial"/>
                <a:ea typeface="Arial"/>
                <a:cs typeface="Arial"/>
              </a:rPr>
              <a:t>Grafana hiển thị</a:t>
            </a:r>
          </a:p>
        </p:txBody>
      </p:sp>
      <p:sp>
        <p:nvSpPr>
          <p:cNvPr id="6" name="">
            <a:extLst xmlns:a="http://schemas.openxmlformats.org/drawingml/2006/main">
              <a:ext uri="{FF2B5EF4-FFF2-40B4-BE49-F238E27FC236}">
                <a16:creationId xmlns:a16="http://schemas.microsoft.com/office/drawing/2014/main" id="{72801D5B-B5D4-4D4E-8144-0A9B0F0821FE}"/>
              </a:ext>
            </a:extLst>
          </p:cNvPr>
          <p:cNvSpPr>
            <a:spLocks xmlns:a="http://schemas.openxmlformats.org/drawingml/2006/main" noGrp="1"/>
          </p:cNvSpPr>
          <p:nvPr/>
        </p:nvSpPr>
        <p:spPr>
          <a:xfrm xmlns:a="http://schemas.openxmlformats.org/drawingml/2006/main">
            <a:off x="9048750" y="4591050"/>
            <a:ext cx="2524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F6171"/>
                </a:solidFill>
                <a:latin typeface="Arial"/>
                <a:ea typeface="Arial"/>
                <a:cs typeface="Arial"/>
              </a:defRPr>
            </a:defPPr>
          </a:lstStyle>
          <a:p xmlns:a="http://schemas.openxmlformats.org/drawingml/2006/main">
            <a:pPr algn="l">
              <a:defRPr sz="1725" b="0">
                <a:solidFill>
                  <a:srgbClr val="4F6171"/>
                </a:solidFill>
                <a:latin typeface="Arial"/>
                <a:ea typeface="Arial"/>
                <a:cs typeface="Arial"/>
              </a:defRPr>
            </a:pPr>
            <a:r>
              <a:rPr sz="1725" b="0">
                <a:solidFill>
                  <a:srgbClr val="4F6171"/>
                </a:solidFill>
                <a:latin typeface="Arial"/>
                <a:ea typeface="Arial"/>
                <a:cs typeface="Arial"/>
              </a:rPr>
              <a:t>Trace smoke đã lưu</a:t>
            </a:r>
          </a:p>
          <a:p xmlns:a="http://schemas.openxmlformats.org/drawingml/2006/main">
            <a:pPr algn="l">
              <a:defRPr sz="1725" b="0">
                <a:solidFill>
                  <a:srgbClr val="4F6171"/>
                </a:solidFill>
                <a:latin typeface="Arial"/>
                <a:ea typeface="Arial"/>
                <a:cs typeface="Arial"/>
              </a:defRPr>
            </a:pPr>
            <a:r>
              <a:rPr sz="1725" b="0">
                <a:solidFill>
                  <a:srgbClr val="4F6171"/>
                </a:solidFill>
                <a:latin typeface="Arial"/>
                <a:ea typeface="Arial"/>
                <a:cs typeface="Arial"/>
              </a:rPr>
              <a:t>Replay giữ ID/thời gian</a:t>
            </a:r>
          </a:p>
          <a:p xmlns:a="http://schemas.openxmlformats.org/drawingml/2006/main">
            <a:pPr algn="l">
              <a:defRPr sz="1725" b="0">
                <a:solidFill>
                  <a:srgbClr val="4F6171"/>
                </a:solidFill>
                <a:latin typeface="Arial"/>
                <a:ea typeface="Arial"/>
                <a:cs typeface="Arial"/>
              </a:defRPr>
            </a:pPr>
            <a:r>
              <a:rPr sz="1725" b="0">
                <a:solidFill>
                  <a:srgbClr val="4F6171"/>
                </a:solidFill>
                <a:latin typeface="Arial"/>
                <a:ea typeface="Arial"/>
                <a:cs typeface="Arial"/>
              </a:rPr>
              <a:t>10 span trong ảnh</a:t>
            </a:r>
          </a:p>
        </p:txBody>
      </p:sp>
      <p:sp>
        <p:nvSpPr>
          <p:cNvPr id="7" name="">
            <a:extLst xmlns:a="http://schemas.openxmlformats.org/drawingml/2006/main">
              <a:ext uri="{FF2B5EF4-FFF2-40B4-BE49-F238E27FC236}">
                <a16:creationId xmlns:a16="http://schemas.microsoft.com/office/drawing/2014/main" id="{52B845BC-8365-42CE-AD58-CCD61DE177B0}"/>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Trace tải nhẹ minh họa luồng gọi. Log phiên chính đo hàng đợi ở 800 rps. Hostmetrics EC2 chưa bật.</a:t>
            </a:r>
          </a:p>
        </p:txBody>
      </p:sp>
    </p:spTree>
    <p:extLst>
      <p:ext uri="{BB962C8B-B14F-4D97-AF65-F5344CB8AC3E}">
        <p14:creationId xmlns:p14="http://schemas.microsoft.com/office/powerpoint/2010/main" val="12143262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78F7EA-76CA-49ED-B97C-5ECBA39209ED}"/>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Lựa chọn mạng và phạm vi kết luận</a:t>
            </a:r>
          </a:p>
        </p:txBody>
      </p:sp>
      <p:sp>
        <p:nvSpPr>
          <p:cNvPr id="2" name="">
            <a:extLst xmlns:a="http://schemas.openxmlformats.org/drawingml/2006/main">
              <a:ext uri="{FF2B5EF4-FFF2-40B4-BE49-F238E27FC236}">
                <a16:creationId xmlns:a16="http://schemas.microsoft.com/office/drawing/2014/main" id="{46FB7C5E-4E29-48C9-8C6D-9E9FE4C88B83}"/>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11C9B0A1-CD67-4983-9FA5-4B359D4D87B0}"/>
              </a:ext>
            </a:extLst>
          </p:cNvPr>
          <p:cNvGraphicFramePr/>
          <p:nvPr/>
        </p:nvGraphicFramePr>
        <p:xfrm>
          <a:off xmlns:a="http://schemas.openxmlformats.org/drawingml/2006/main" x="609600" y="1619250"/>
          <a:ext xmlns:a="http://schemas.openxmlformats.org/drawingml/2006/main" cx="10953750" cy="2857500"/>
        </p:xfrm>
        <a:graphic xmlns:a="http://schemas.openxmlformats.org/drawingml/2006/main">
          <a:graphicData uri="http://schemas.openxmlformats.org/drawingml/2006/table">
            <a:tbl>
              <a:tblPr/>
              <a:tblGrid>
                <a:gridCol w="2809875"/>
                <a:gridCol w="3762375"/>
                <a:gridCol w="4381500"/>
              </a:tblGrid>
              <a:tr h="714375">
                <a:tc>
                  <a:txBody>
                    <a:bodyPr lIns="114300" tIns="114300" rIns="114300" bIns="114300"/>
                    <a:lstStyle/>
                    <a:p>
                      <a:r>
                        <a:rPr sz="1950" b="1">
                          <a:solidFill>
                            <a:srgbClr val="FFFFFF"/>
                          </a:solidFill>
                          <a:latin typeface="Arial"/>
                          <a:ea typeface="Arial"/>
                          <a:cs typeface="Arial"/>
                        </a:rPr>
                        <a:t>Khía cạnh</a:t>
                      </a:r>
                    </a:p>
                  </a:txBody>
                  <a:tcPr marL="91440" marR="91440" marT="45720" marB="45720" anchor="ctr">
                    <a:lnL w="9525">
                      <a:solidFill>
                        <a:srgbClr val="D5E0E7"/>
                      </a:solidFill>
                      <a:prstDash val="solid"/>
                    </a:lnL>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1950" b="1">
                          <a:solidFill>
                            <a:srgbClr val="FFFFFF"/>
                          </a:solidFill>
                          <a:latin typeface="Arial"/>
                          <a:ea typeface="Arial"/>
                          <a:cs typeface="Arial"/>
                        </a:rPr>
                        <a:t>Peering</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1950" b="1">
                          <a:solidFill>
                            <a:srgbClr val="FFFFFF"/>
                          </a:solidFill>
                          <a:latin typeface="Arial"/>
                          <a:ea typeface="Arial"/>
                          <a:cs typeface="Arial"/>
                        </a:rPr>
                        <a:t>TGW</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r>
              <a:tr h="714375">
                <a:tc>
                  <a:txBody>
                    <a:bodyPr lIns="114300" tIns="114300" rIns="114300" bIns="114300"/>
                    <a:lstStyle/>
                    <a:p>
                      <a:r>
                        <a:rPr sz="1950" b="0">
                          <a:solidFill>
                            <a:srgbClr val="132D46"/>
                          </a:solidFill>
                          <a:latin typeface="Arial"/>
                          <a:ea typeface="Arial"/>
                          <a:cs typeface="Arial"/>
                        </a:rPr>
                        <a:t>RTT đã đo</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950" b="0">
                          <a:solidFill>
                            <a:srgbClr val="132D46"/>
                          </a:solidFill>
                          <a:latin typeface="Arial"/>
                          <a:ea typeface="Arial"/>
                          <a:cs typeface="Arial"/>
                        </a:rPr>
                        <a:t>Thấp hơn ở cả 5 block</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950" b="0">
                          <a:solidFill>
                            <a:srgbClr val="132D46"/>
                          </a:solidFill>
                          <a:latin typeface="Arial"/>
                          <a:ea typeface="Arial"/>
                          <a:cs typeface="Arial"/>
                        </a:rPr>
                        <a:t>Cao hơn trung bình 0,3119 ms</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714375">
                <a:tc>
                  <a:txBody>
                    <a:bodyPr lIns="114300" tIns="114300" rIns="114300" bIns="114300"/>
                    <a:lstStyle/>
                    <a:p>
                      <a:r>
                        <a:rPr sz="1950" b="0">
                          <a:solidFill>
                            <a:srgbClr val="132D46"/>
                          </a:solidFill>
                          <a:latin typeface="Arial"/>
                          <a:ea typeface="Arial"/>
                          <a:cs typeface="Arial"/>
                        </a:rPr>
                        <a:t>Bốn VPC full mesh</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950" b="0">
                          <a:solidFill>
                            <a:srgbClr val="132D46"/>
                          </a:solidFill>
                          <a:latin typeface="Arial"/>
                          <a:ea typeface="Arial"/>
                          <a:cs typeface="Arial"/>
                        </a:rPr>
                        <a:t>6 kết nối cặp</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950" b="0">
                          <a:solidFill>
                            <a:srgbClr val="132D46"/>
                          </a:solidFill>
                          <a:latin typeface="Arial"/>
                          <a:ea typeface="Arial"/>
                          <a:cs typeface="Arial"/>
                        </a:rPr>
                        <a:t>1 hub, 4 attachment</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r h="714375">
                <a:tc>
                  <a:txBody>
                    <a:bodyPr lIns="114300" tIns="114300" rIns="114300" bIns="114300"/>
                    <a:lstStyle/>
                    <a:p>
                      <a:r>
                        <a:rPr sz="1950" b="0">
                          <a:solidFill>
                            <a:srgbClr val="132D46"/>
                          </a:solidFill>
                          <a:latin typeface="Arial"/>
                          <a:ea typeface="Arial"/>
                          <a:cs typeface="Arial"/>
                        </a:rPr>
                        <a:t>Quản trị topology</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950" b="0">
                          <a:solidFill>
                            <a:srgbClr val="132D46"/>
                          </a:solidFill>
                          <a:latin typeface="Arial"/>
                          <a:ea typeface="Arial"/>
                          <a:cs typeface="Arial"/>
                        </a:rPr>
                        <a:t>Quản lý theo cặp</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950" b="0">
                          <a:solidFill>
                            <a:srgbClr val="132D46"/>
                          </a:solidFill>
                          <a:latin typeface="Arial"/>
                          <a:ea typeface="Arial"/>
                          <a:cs typeface="Arial"/>
                        </a:rPr>
                        <a:t>Định tuyến tại hub</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16C1A4F-64BC-42DF-A0A8-DFB1583DAB99}"/>
              </a:ext>
            </a:extLst>
          </p:cNvPr>
          <p:cNvSpPr>
            <a:spLocks xmlns:a="http://schemas.openxmlformats.org/drawingml/2006/main" noGrp="1"/>
          </p:cNvSpPr>
          <p:nvPr/>
        </p:nvSpPr>
        <p:spPr>
          <a:xfrm xmlns:a="http://schemas.openxmlformats.org/drawingml/2006/main">
            <a:off x="609600" y="49149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837D"/>
                </a:solidFill>
                <a:latin typeface="Arial"/>
                <a:ea typeface="Arial"/>
                <a:cs typeface="Arial"/>
              </a:defRPr>
            </a:defPPr>
          </a:lstStyle>
          <a:p xmlns:a="http://schemas.openxmlformats.org/drawingml/2006/main">
            <a:pPr algn="l">
              <a:defRPr sz="2325" b="1">
                <a:solidFill>
                  <a:srgbClr val="00837D"/>
                </a:solidFill>
                <a:latin typeface="Arial"/>
                <a:ea typeface="Arial"/>
                <a:cs typeface="Arial"/>
              </a:defRPr>
            </a:pPr>
            <a:r>
              <a:rPr sz="2325" b="1">
                <a:solidFill>
                  <a:srgbClr val="00837D"/>
                </a:solidFill>
                <a:latin typeface="Arial"/>
                <a:ea typeface="Arial"/>
                <a:cs typeface="Arial"/>
              </a:rPr>
              <a:t>Ở 800 rps, thiếu slots làm deadline thấp ở cả hai mode.</a:t>
            </a:r>
          </a:p>
          <a:p xmlns:a="http://schemas.openxmlformats.org/drawingml/2006/main">
            <a:pPr algn="l">
              <a:defRPr sz="2325" b="1">
                <a:solidFill>
                  <a:srgbClr val="00837D"/>
                </a:solidFill>
                <a:latin typeface="Arial"/>
                <a:ea typeface="Arial"/>
                <a:cs typeface="Arial"/>
              </a:defRPr>
            </a:pPr>
            <a:r>
              <a:rPr sz="2325" b="1">
                <a:solidFill>
                  <a:srgbClr val="00837D"/>
                </a:solidFill>
                <a:latin typeface="Arial"/>
                <a:ea typeface="Arial"/>
                <a:cs typeface="Arial"/>
              </a:rPr>
              <a:t>Tăng khả năng phục vụ cải thiện rõ trong workload đã thử.</a:t>
            </a:r>
          </a:p>
        </p:txBody>
      </p:sp>
      <p:sp>
        <p:nvSpPr>
          <p:cNvPr id="5" name="">
            <a:extLst xmlns:a="http://schemas.openxmlformats.org/drawingml/2006/main">
              <a:ext uri="{FF2B5EF4-FFF2-40B4-BE49-F238E27FC236}">
                <a16:creationId xmlns:a16="http://schemas.microsoft.com/office/drawing/2014/main" id="{0D376C4A-CFE8-4BF6-BD38-8BFB75D0AC72}"/>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Ưu điểm topology theo tài liệu AWS. Chưa lượng hóa công sức quản trị hoặc chứng minh giới hạn AWS.</a:t>
            </a:r>
          </a:p>
        </p:txBody>
      </p:sp>
    </p:spTree>
    <p:extLst>
      <p:ext uri="{BB962C8B-B14F-4D97-AF65-F5344CB8AC3E}">
        <p14:creationId xmlns:p14="http://schemas.microsoft.com/office/powerpoint/2010/main" val="11647968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4CD807-CA1E-4695-BA64-568E17DD9C4C}"/>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Kết luận và minh chứng demo</a:t>
            </a:r>
          </a:p>
        </p:txBody>
      </p:sp>
      <p:sp>
        <p:nvSpPr>
          <p:cNvPr id="2" name="">
            <a:extLst xmlns:a="http://schemas.openxmlformats.org/drawingml/2006/main">
              <a:ext uri="{FF2B5EF4-FFF2-40B4-BE49-F238E27FC236}">
                <a16:creationId xmlns:a16="http://schemas.microsoft.com/office/drawing/2014/main" id="{AEE2D1E4-B6EE-4E49-9744-205E6E72705F}"/>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84FFCE10-114B-49EE-81AC-12ECEBD1C190}"/>
              </a:ext>
            </a:extLst>
          </p:cNvPr>
          <p:cNvSpPr>
            <a:spLocks xmlns:a="http://schemas.openxmlformats.org/drawingml/2006/main" noGrp="1"/>
          </p:cNvSpPr>
          <p:nvPr/>
        </p:nvSpPr>
        <p:spPr>
          <a:xfrm xmlns:a="http://schemas.openxmlformats.org/drawingml/2006/main">
            <a:off x="609600" y="15240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0837D"/>
                </a:solidFill>
                <a:latin typeface="Arial"/>
                <a:ea typeface="Arial"/>
                <a:cs typeface="Arial"/>
              </a:defRPr>
            </a:defPPr>
          </a:lstStyle>
          <a:p xmlns:a="http://schemas.openxmlformats.org/drawingml/2006/main">
            <a:pPr algn="l">
              <a:defRPr sz="3375" b="1">
                <a:solidFill>
                  <a:srgbClr val="00837D"/>
                </a:solidFill>
                <a:latin typeface="Arial"/>
                <a:ea typeface="Arial"/>
                <a:cs typeface="Arial"/>
              </a:defRPr>
            </a:pPr>
            <a:r>
              <a:rPr sz="3375" b="1">
                <a:solidFill>
                  <a:srgbClr val="00837D"/>
                </a:solidFill>
                <a:latin typeface="Arial"/>
                <a:ea typeface="Arial"/>
                <a:cs typeface="Arial"/>
              </a:rPr>
              <a:t>Peering có RTT thấp hơn</a:t>
            </a:r>
          </a:p>
          <a:p xmlns:a="http://schemas.openxmlformats.org/drawingml/2006/main">
            <a:pPr algn="l">
              <a:defRPr sz="3375" b="1">
                <a:solidFill>
                  <a:srgbClr val="00837D"/>
                </a:solidFill>
                <a:latin typeface="Arial"/>
                <a:ea typeface="Arial"/>
                <a:cs typeface="Arial"/>
              </a:defRPr>
            </a:pPr>
            <a:r>
              <a:rPr sz="3375" b="1">
                <a:solidFill>
                  <a:srgbClr val="00837D"/>
                </a:solidFill>
                <a:latin typeface="Arial"/>
                <a:ea typeface="Arial"/>
                <a:cs typeface="Arial"/>
              </a:rPr>
              <a:t>trong cấu hình đã đo</a:t>
            </a:r>
          </a:p>
        </p:txBody>
      </p:sp>
      <p:sp>
        <p:nvSpPr>
          <p:cNvPr id="4" name="">
            <a:extLst xmlns:a="http://schemas.openxmlformats.org/drawingml/2006/main">
              <a:ext uri="{FF2B5EF4-FFF2-40B4-BE49-F238E27FC236}">
                <a16:creationId xmlns:a16="http://schemas.microsoft.com/office/drawing/2014/main" id="{1267734A-C219-4116-8BE9-9DAE1F8D11D5}"/>
              </a:ext>
            </a:extLst>
          </p:cNvPr>
          <p:cNvSpPr>
            <a:spLocks xmlns:a="http://schemas.openxmlformats.org/drawingml/2006/main" noGrp="1"/>
          </p:cNvSpPr>
          <p:nvPr/>
        </p:nvSpPr>
        <p:spPr>
          <a:xfrm xmlns:a="http://schemas.openxmlformats.org/drawingml/2006/main">
            <a:off x="609600" y="3048000"/>
            <a:ext cx="1085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32D46"/>
                </a:solidFill>
                <a:latin typeface="Arial"/>
                <a:ea typeface="Arial"/>
                <a:cs typeface="Arial"/>
              </a:defRPr>
            </a:defPPr>
          </a:lstStyle>
          <a:p xmlns:a="http://schemas.openxmlformats.org/drawingml/2006/main">
            <a:pPr algn="l">
              <a:defRPr sz="3300" b="1">
                <a:solidFill>
                  <a:srgbClr val="132D46"/>
                </a:solidFill>
                <a:latin typeface="Arial"/>
                <a:ea typeface="Arial"/>
                <a:cs typeface="Arial"/>
              </a:defRPr>
            </a:pPr>
            <a:r>
              <a:rPr sz="3300" b="1">
                <a:solidFill>
                  <a:srgbClr val="132D46"/>
                </a:solidFill>
                <a:latin typeface="Arial"/>
                <a:ea typeface="Arial"/>
                <a:cs typeface="Arial"/>
              </a:rPr>
              <a:t>Chất lượng ứng dụng còn phụ thuộc</a:t>
            </a:r>
          </a:p>
          <a:p xmlns:a="http://schemas.openxmlformats.org/drawingml/2006/main">
            <a:pPr algn="l">
              <a:defRPr sz="3300" b="1">
                <a:solidFill>
                  <a:srgbClr val="132D46"/>
                </a:solidFill>
                <a:latin typeface="Arial"/>
                <a:ea typeface="Arial"/>
                <a:cs typeface="Arial"/>
              </a:defRPr>
            </a:pPr>
            <a:r>
              <a:rPr sz="3300" b="1">
                <a:solidFill>
                  <a:srgbClr val="132D46"/>
                </a:solidFill>
                <a:latin typeface="Arial"/>
                <a:ea typeface="Arial"/>
                <a:cs typeface="Arial"/>
              </a:rPr>
              <a:t>khả năng phục vụ và thời gian chờ</a:t>
            </a:r>
          </a:p>
        </p:txBody>
      </p:sp>
      <p:sp>
        <p:nvSpPr>
          <p:cNvPr id="5" name="">
            <a:extLst xmlns:a="http://schemas.openxmlformats.org/drawingml/2006/main">
              <a:ext uri="{FF2B5EF4-FFF2-40B4-BE49-F238E27FC236}">
                <a16:creationId xmlns:a16="http://schemas.microsoft.com/office/drawing/2014/main" id="{5039241C-662A-4B75-AE55-30AAF8E7BBE3}"/>
              </a:ext>
            </a:extLst>
          </p:cNvPr>
          <p:cNvSpPr>
            <a:spLocks xmlns:a="http://schemas.openxmlformats.org/drawingml/2006/main" noGrp="1"/>
          </p:cNvSpPr>
          <p:nvPr/>
        </p:nvSpPr>
        <p:spPr>
          <a:xfrm xmlns:a="http://schemas.openxmlformats.org/drawingml/2006/main">
            <a:off x="609600" y="47815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32D46"/>
                </a:solidFill>
                <a:latin typeface="Arial"/>
                <a:ea typeface="Arial"/>
                <a:cs typeface="Arial"/>
              </a:defRPr>
            </a:defPPr>
          </a:lstStyle>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Minh chứng: raw và route proof, bảng kết quả, log Little, trace Grafana.</a:t>
            </a:r>
          </a:p>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Demo trực tiếp hoặc video dùng dữ liệu lịch sử có nhãn rõ ràng.</a:t>
            </a:r>
          </a:p>
        </p:txBody>
      </p:sp>
      <p:sp>
        <p:nvSpPr>
          <p:cNvPr id="6" name="">
            <a:extLst xmlns:a="http://schemas.openxmlformats.org/drawingml/2006/main">
              <a:ext uri="{FF2B5EF4-FFF2-40B4-BE49-F238E27FC236}">
                <a16:creationId xmlns:a16="http://schemas.microsoft.com/office/drawing/2014/main" id="{ECFB033E-0CE4-4FB5-BBFF-5CFCAD81077E}"/>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github.com/Jonnysilverfang/NT531 · nhánh minh-work</a:t>
            </a:r>
          </a:p>
        </p:txBody>
      </p:sp>
    </p:spTree>
    <p:extLst>
      <p:ext uri="{BB962C8B-B14F-4D97-AF65-F5344CB8AC3E}">
        <p14:creationId xmlns:p14="http://schemas.microsoft.com/office/powerpoint/2010/main" val="13360275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00FEF7-5775-4586-8DC3-0452251791EF}"/>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Phụ lục · TCP và fan-in lịch sử</a:t>
            </a:r>
          </a:p>
        </p:txBody>
      </p:sp>
      <p:sp>
        <p:nvSpPr>
          <p:cNvPr id="2" name="">
            <a:extLst xmlns:a="http://schemas.openxmlformats.org/drawingml/2006/main">
              <a:ext uri="{FF2B5EF4-FFF2-40B4-BE49-F238E27FC236}">
                <a16:creationId xmlns:a16="http://schemas.microsoft.com/office/drawing/2014/main" id="{B6403774-5820-4FD2-AABA-2B070DEAD434}"/>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376F1D21-7677-40A7-8E62-2CE042757ED6}"/>
              </a:ext>
            </a:extLst>
          </p:cNvPr>
          <p:cNvGraphicFramePr/>
          <p:nvPr/>
        </p:nvGraphicFramePr>
        <p:xfrm>
          <a:off xmlns:a="http://schemas.openxmlformats.org/drawingml/2006/main" x="609600" y="1619250"/>
          <a:ext xmlns:a="http://schemas.openxmlformats.org/drawingml/2006/main" cx="10953750" cy="2667000"/>
        </p:xfrm>
        <a:graphic xmlns:a="http://schemas.openxmlformats.org/drawingml/2006/main">
          <a:graphicData uri="http://schemas.openxmlformats.org/drawingml/2006/table">
            <a:tbl>
              <a:tblPr/>
              <a:tblGrid>
                <a:gridCol w="5334000"/>
                <a:gridCol w="2809875"/>
                <a:gridCol w="2809875"/>
              </a:tblGrid>
              <a:tr h="666750">
                <a:tc>
                  <a:txBody>
                    <a:bodyPr lIns="114300" tIns="114300" rIns="114300" bIns="114300"/>
                    <a:lstStyle/>
                    <a:p>
                      <a:r>
                        <a:rPr sz="2025" b="1">
                          <a:solidFill>
                            <a:srgbClr val="FFFFFF"/>
                          </a:solidFill>
                          <a:latin typeface="Arial"/>
                          <a:ea typeface="Arial"/>
                          <a:cs typeface="Arial"/>
                        </a:rPr>
                        <a:t>Bộ đo lịch sử</a:t>
                      </a:r>
                    </a:p>
                  </a:txBody>
                  <a:tcPr marL="91440" marR="91440" marT="45720" marB="45720" anchor="ctr">
                    <a:lnL w="9525">
                      <a:solidFill>
                        <a:srgbClr val="D5E0E7"/>
                      </a:solidFill>
                      <a:prstDash val="solid"/>
                    </a:lnL>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2025" b="1">
                          <a:solidFill>
                            <a:srgbClr val="FFFFFF"/>
                          </a:solidFill>
                          <a:latin typeface="Arial"/>
                          <a:ea typeface="Arial"/>
                          <a:cs typeface="Arial"/>
                        </a:rPr>
                        <a:t>Peering</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2025" b="1">
                          <a:solidFill>
                            <a:srgbClr val="FFFFFF"/>
                          </a:solidFill>
                          <a:latin typeface="Arial"/>
                          <a:ea typeface="Arial"/>
                          <a:cs typeface="Arial"/>
                        </a:rPr>
                        <a:t>TGW</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r>
              <a:tr h="666750">
                <a:tc>
                  <a:txBody>
                    <a:bodyPr lIns="114300" tIns="114300" rIns="114300" bIns="114300"/>
                    <a:lstStyle/>
                    <a:p>
                      <a:r>
                        <a:rPr sz="2025" b="0">
                          <a:solidFill>
                            <a:srgbClr val="132D46"/>
                          </a:solidFill>
                          <a:latin typeface="Arial"/>
                          <a:ea typeface="Arial"/>
                          <a:cs typeface="Arial"/>
                        </a:rPr>
                        <a:t>RTT mạng rảnh (ms)</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0,208</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0,563</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666750">
                <a:tc>
                  <a:txBody>
                    <a:bodyPr lIns="114300" tIns="114300" rIns="114300" bIns="114300"/>
                    <a:lstStyle/>
                    <a:p>
                      <a:r>
                        <a:rPr sz="2025" b="0">
                          <a:solidFill>
                            <a:srgbClr val="132D46"/>
                          </a:solidFill>
                          <a:latin typeface="Arial"/>
                          <a:ea typeface="Arial"/>
                          <a:cs typeface="Arial"/>
                        </a:rPr>
                        <a:t>TCP 1 luồng nhận (Gbps)</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025" b="0">
                          <a:solidFill>
                            <a:srgbClr val="132D46"/>
                          </a:solidFill>
                          <a:latin typeface="Arial"/>
                          <a:ea typeface="Arial"/>
                          <a:cs typeface="Arial"/>
                        </a:rPr>
                        <a:t>4,783</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2025" b="0">
                          <a:solidFill>
                            <a:srgbClr val="132D46"/>
                          </a:solidFill>
                          <a:latin typeface="Arial"/>
                          <a:ea typeface="Arial"/>
                          <a:cs typeface="Arial"/>
                        </a:rPr>
                        <a:t>4,608</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r h="666750">
                <a:tc>
                  <a:txBody>
                    <a:bodyPr lIns="114300" tIns="114300" rIns="114300" bIns="114300"/>
                    <a:lstStyle/>
                    <a:p>
                      <a:r>
                        <a:rPr sz="2025" b="0">
                          <a:solidFill>
                            <a:srgbClr val="132D46"/>
                          </a:solidFill>
                          <a:latin typeface="Arial"/>
                          <a:ea typeface="Arial"/>
                          <a:cs typeface="Arial"/>
                        </a:rPr>
                        <a:t>Tổng fan-in xấp xỉ (Gbps)</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11,611</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2025" b="0">
                          <a:solidFill>
                            <a:srgbClr val="132D46"/>
                          </a:solidFill>
                          <a:latin typeface="Arial"/>
                          <a:ea typeface="Arial"/>
                          <a:cs typeface="Arial"/>
                        </a:rPr>
                        <a:t>11,591</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80E98DF-B780-4D5A-BC23-31153E182498}"/>
              </a:ext>
            </a:extLst>
          </p:cNvPr>
          <p:cNvSpPr>
            <a:spLocks xmlns:a="http://schemas.openxmlformats.org/drawingml/2006/main" noGrp="1"/>
          </p:cNvSpPr>
          <p:nvPr/>
        </p:nvSpPr>
        <p:spPr>
          <a:xfrm xmlns:a="http://schemas.openxmlformats.org/drawingml/2006/main">
            <a:off x="609600" y="4667250"/>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32D46"/>
                </a:solidFill>
                <a:latin typeface="Arial"/>
                <a:ea typeface="Arial"/>
                <a:cs typeface="Arial"/>
              </a:defRPr>
            </a:defPPr>
          </a:lstStyle>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Hai cặp độc lập: A–B và C–D.</a:t>
            </a:r>
          </a:p>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Fan-in: A, C, D cùng gửi về B.</a:t>
            </a:r>
          </a:p>
          <a:p xmlns:a="http://schemas.openxmlformats.org/drawingml/2006/main">
            <a:pPr algn="l">
              <a:defRPr sz="2100" b="0">
                <a:solidFill>
                  <a:srgbClr val="132D46"/>
                </a:solidFill>
                <a:latin typeface="Arial"/>
                <a:ea typeface="Arial"/>
                <a:cs typeface="Arial"/>
              </a:defRPr>
            </a:pPr>
            <a:r>
              <a:rPr sz="2100" b="0">
                <a:solidFill>
                  <a:srgbClr val="132D46"/>
                </a:solidFill>
                <a:latin typeface="Arial"/>
                <a:ea typeface="Arial"/>
                <a:cs typeface="Arial"/>
              </a:rPr>
              <a:t>Bộ đếm ENA: đối chiếu chênh trước và sau.</a:t>
            </a:r>
          </a:p>
        </p:txBody>
      </p:sp>
      <p:sp>
        <p:nvSpPr>
          <p:cNvPr id="5" name="">
            <a:extLst xmlns:a="http://schemas.openxmlformats.org/drawingml/2006/main">
              <a:ext uri="{FF2B5EF4-FFF2-40B4-BE49-F238E27FC236}">
                <a16:creationId xmlns:a16="http://schemas.microsoft.com/office/drawing/2014/main" id="{CADAB9D7-09BE-41A5-9AFC-6858D8DE419F}"/>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Mỗi bộ 5 lượt, cohort lịch sử riêng. Tổng fan-in là xấp xỉ từ trung bình luồng, không đo capacity TGW.</a:t>
            </a:r>
          </a:p>
        </p:txBody>
      </p:sp>
    </p:spTree>
    <p:extLst>
      <p:ext uri="{BB962C8B-B14F-4D97-AF65-F5344CB8AC3E}">
        <p14:creationId xmlns:p14="http://schemas.microsoft.com/office/powerpoint/2010/main" val="17025218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0FBC01-F4D1-479F-B734-D9F9B1AE7F7D}"/>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Phụ lục · Đủ 8 điều kiện ứng dụng</a:t>
            </a:r>
          </a:p>
        </p:txBody>
      </p:sp>
      <p:sp>
        <p:nvSpPr>
          <p:cNvPr id="2" name="">
            <a:extLst xmlns:a="http://schemas.openxmlformats.org/drawingml/2006/main">
              <a:ext uri="{FF2B5EF4-FFF2-40B4-BE49-F238E27FC236}">
                <a16:creationId xmlns:a16="http://schemas.microsoft.com/office/drawing/2014/main" id="{D6C36AF8-0AFA-4FEB-8772-3625F82DB4F0}"/>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16</a:t>
            </a:r>
          </a:p>
        </p:txBody>
      </p:sp>
      <p:graphicFrame>
        <p:nvGraphicFramePr>
          <p:cNvPr id="3" name="">
            <a:extLst xmlns:a="http://schemas.openxmlformats.org/drawingml/2006/main">
              <a:ext uri="{FF2B5EF4-FFF2-40B4-BE49-F238E27FC236}">
                <a16:creationId xmlns:a16="http://schemas.microsoft.com/office/drawing/2014/main" id="{5393038F-118B-4C91-8D9F-95E45E112158}"/>
              </a:ext>
            </a:extLst>
          </p:cNvPr>
          <p:cNvGraphicFramePr/>
          <p:nvPr/>
        </p:nvGraphicFramePr>
        <p:xfrm>
          <a:off xmlns:a="http://schemas.openxmlformats.org/drawingml/2006/main" x="609600" y="1476375"/>
          <a:ext xmlns:a="http://schemas.openxmlformats.org/drawingml/2006/main" cx="10953750" cy="4524375"/>
        </p:xfrm>
        <a:graphic xmlns:a="http://schemas.openxmlformats.org/drawingml/2006/main">
          <a:graphicData uri="http://schemas.openxmlformats.org/drawingml/2006/table">
            <a:tbl>
              <a:tblPr/>
              <a:tblGrid>
                <a:gridCol w="1571625"/>
                <a:gridCol w="1000125"/>
                <a:gridCol w="952500"/>
                <a:gridCol w="2857500"/>
                <a:gridCol w="4572000"/>
              </a:tblGrid>
              <a:tr h="502708">
                <a:tc>
                  <a:txBody>
                    <a:bodyPr lIns="114300" tIns="114300" rIns="114300" bIns="114300"/>
                    <a:lstStyle/>
                    <a:p>
                      <a:r>
                        <a:rPr sz="1650" b="1">
                          <a:solidFill>
                            <a:srgbClr val="FFFFFF"/>
                          </a:solidFill>
                          <a:latin typeface="Arial"/>
                          <a:ea typeface="Arial"/>
                          <a:cs typeface="Arial"/>
                        </a:rPr>
                        <a:t>Mạng</a:t>
                      </a:r>
                    </a:p>
                  </a:txBody>
                  <a:tcPr marL="91440" marR="91440" marT="45720" marB="45720" anchor="ctr">
                    <a:lnL w="9525">
                      <a:solidFill>
                        <a:srgbClr val="D5E0E7"/>
                      </a:solidFill>
                      <a:prstDash val="solid"/>
                    </a:lnL>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1650" b="1">
                          <a:solidFill>
                            <a:srgbClr val="FFFFFF"/>
                          </a:solidFill>
                          <a:latin typeface="Arial"/>
                          <a:ea typeface="Arial"/>
                          <a:cs typeface="Arial"/>
                        </a:rPr>
                        <a:t>Slots</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1650" b="1">
                          <a:solidFill>
                            <a:srgbClr val="FFFFFF"/>
                          </a:solidFill>
                          <a:latin typeface="Arial"/>
                          <a:ea typeface="Arial"/>
                          <a:cs typeface="Arial"/>
                        </a:rPr>
                        <a:t>rps</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1650" b="1">
                          <a:solidFill>
                            <a:srgbClr val="FFFFFF"/>
                          </a:solidFill>
                          <a:latin typeface="Arial"/>
                          <a:ea typeface="Arial"/>
                          <a:cs typeface="Arial"/>
                        </a:rPr>
                        <a:t>Đúng hạn / lịch</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1650" b="1">
                          <a:solidFill>
                            <a:srgbClr val="FFFFFF"/>
                          </a:solidFill>
                          <a:latin typeface="Arial"/>
                          <a:ea typeface="Arial"/>
                          <a:cs typeface="Arial"/>
                        </a:rPr>
                        <a:t>P95 từng block (ms)</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r>
              <a:tr h="502708">
                <a:tc>
                  <a:txBody>
                    <a:bodyPr lIns="114300" tIns="114300" rIns="114300" bIns="114300"/>
                    <a:lstStyle/>
                    <a:p>
                      <a:r>
                        <a:rPr sz="1650" b="0">
                          <a:solidFill>
                            <a:srgbClr val="132D46"/>
                          </a:solidFill>
                          <a:latin typeface="Arial"/>
                          <a:ea typeface="Arial"/>
                          <a:cs typeface="Arial"/>
                        </a:rPr>
                        <a:t>Peering</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8</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600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27.000 / 27.000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12,109–12,684</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502708">
                <a:tc>
                  <a:txBody>
                    <a:bodyPr lIns="114300" tIns="114300" rIns="114300" bIns="114300"/>
                    <a:lstStyle/>
                    <a:p>
                      <a:r>
                        <a:rPr sz="1650" b="0">
                          <a:solidFill>
                            <a:srgbClr val="132D46"/>
                          </a:solidFill>
                          <a:latin typeface="Arial"/>
                          <a:ea typeface="Arial"/>
                          <a:cs typeface="Arial"/>
                        </a:rPr>
                        <a:t>Peering</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16</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600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27.000 / 27.000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12,085–12,699</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r h="502708">
                <a:tc>
                  <a:txBody>
                    <a:bodyPr lIns="114300" tIns="114300" rIns="114300" bIns="114300"/>
                    <a:lstStyle/>
                    <a:p>
                      <a:r>
                        <a:rPr sz="1650" b="0">
                          <a:solidFill>
                            <a:srgbClr val="132D46"/>
                          </a:solidFill>
                          <a:latin typeface="Arial"/>
                          <a:ea typeface="Arial"/>
                          <a:cs typeface="Arial"/>
                        </a:rPr>
                        <a:t>TGW</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8</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600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27.000 / 27.000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12,879–13,146</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502708">
                <a:tc>
                  <a:txBody>
                    <a:bodyPr lIns="114300" tIns="114300" rIns="114300" bIns="114300"/>
                    <a:lstStyle/>
                    <a:p>
                      <a:r>
                        <a:rPr sz="1650" b="0">
                          <a:solidFill>
                            <a:srgbClr val="132D46"/>
                          </a:solidFill>
                          <a:latin typeface="Arial"/>
                          <a:ea typeface="Arial"/>
                          <a:cs typeface="Arial"/>
                        </a:rPr>
                        <a:t>TGW</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16</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600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27.000 / 27.000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12,981–13,243</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r h="502708">
                <a:tc>
                  <a:txBody>
                    <a:bodyPr lIns="114300" tIns="114300" rIns="114300" bIns="114300"/>
                    <a:lstStyle/>
                    <a:p>
                      <a:r>
                        <a:rPr sz="1650" b="0">
                          <a:solidFill>
                            <a:srgbClr val="132D46"/>
                          </a:solidFill>
                          <a:latin typeface="Arial"/>
                          <a:ea typeface="Arial"/>
                          <a:cs typeface="Arial"/>
                        </a:rPr>
                        <a:t>Peering</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8</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800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1.096 / 36.000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1.350,096–1.499,226</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502708">
                <a:tc>
                  <a:txBody>
                    <a:bodyPr lIns="114300" tIns="114300" rIns="114300" bIns="114300"/>
                    <a:lstStyle/>
                    <a:p>
                      <a:r>
                        <a:rPr sz="1650" b="0">
                          <a:solidFill>
                            <a:srgbClr val="132D46"/>
                          </a:solidFill>
                          <a:latin typeface="Arial"/>
                          <a:ea typeface="Arial"/>
                          <a:cs typeface="Arial"/>
                        </a:rPr>
                        <a:t>Peering</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16</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800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36.000 / 36.000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12,651–12,698</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r h="502708">
                <a:tc>
                  <a:txBody>
                    <a:bodyPr lIns="114300" tIns="114300" rIns="114300" bIns="114300"/>
                    <a:lstStyle/>
                    <a:p>
                      <a:r>
                        <a:rPr sz="1650" b="0">
                          <a:solidFill>
                            <a:srgbClr val="132D46"/>
                          </a:solidFill>
                          <a:latin typeface="Arial"/>
                          <a:ea typeface="Arial"/>
                          <a:cs typeface="Arial"/>
                        </a:rPr>
                        <a:t>TGW</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8</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800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1.178 / 36.000</a:t>
                      </a:r>
                    </a:p>
                  </a:txBody>
                  <a:tcPr marL="91440" marR="91440" marT="45720" marB="45720" anchor="ctr">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650" b="0">
                          <a:solidFill>
                            <a:srgbClr val="132D46"/>
                          </a:solidFill>
                          <a:latin typeface="Arial"/>
                          <a:ea typeface="Arial"/>
                          <a:cs typeface="Arial"/>
                        </a:rPr>
                        <a:t>1.225,784–1.327,874</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502708">
                <a:tc>
                  <a:txBody>
                    <a:bodyPr lIns="114300" tIns="114300" rIns="114300" bIns="114300"/>
                    <a:lstStyle/>
                    <a:p>
                      <a:r>
                        <a:rPr sz="1650" b="0">
                          <a:solidFill>
                            <a:srgbClr val="132D46"/>
                          </a:solidFill>
                          <a:latin typeface="Arial"/>
                          <a:ea typeface="Arial"/>
                          <a:cs typeface="Arial"/>
                        </a:rPr>
                        <a:t>TGW</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16</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800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36.000 / 36.000</a:t>
                      </a:r>
                    </a:p>
                  </a:txBody>
                  <a:tcPr marL="91440" marR="91440" marT="45720" marB="45720" anchor="ctr">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650" b="0">
                          <a:solidFill>
                            <a:srgbClr val="132D46"/>
                          </a:solidFill>
                          <a:latin typeface="Arial"/>
                          <a:ea typeface="Arial"/>
                          <a:cs typeface="Arial"/>
                        </a:rPr>
                        <a:t>12,875–13,248</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bl>
          </a:graphicData>
        </a:graphic>
      </p:graphicFrame>
      <p:sp>
        <p:nvSpPr>
          <p:cNvPr id="4" name="">
            <a:extLst xmlns:a="http://schemas.openxmlformats.org/drawingml/2006/main">
              <a:ext uri="{FF2B5EF4-FFF2-40B4-BE49-F238E27FC236}">
                <a16:creationId xmlns:a16="http://schemas.microsoft.com/office/drawing/2014/main" id="{BF345B9F-14DF-4BC9-9CB7-B685997E9480}"/>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3 block. Tổng 252.000 request theo lịch. Không lỗi HTTP/JSON quan sát. P95 min–max, không phải CI.</a:t>
            </a:r>
          </a:p>
        </p:txBody>
      </p:sp>
    </p:spTree>
    <p:extLst>
      <p:ext uri="{BB962C8B-B14F-4D97-AF65-F5344CB8AC3E}">
        <p14:creationId xmlns:p14="http://schemas.microsoft.com/office/powerpoint/2010/main" val="12117249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A7648E-B72E-4956-8642-E7584C80265C}"/>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Phụ lục · Câu hỏi thường gặp</a:t>
            </a:r>
          </a:p>
        </p:txBody>
      </p:sp>
      <p:sp>
        <p:nvSpPr>
          <p:cNvPr id="2" name="">
            <a:extLst xmlns:a="http://schemas.openxmlformats.org/drawingml/2006/main">
              <a:ext uri="{FF2B5EF4-FFF2-40B4-BE49-F238E27FC236}">
                <a16:creationId xmlns:a16="http://schemas.microsoft.com/office/drawing/2014/main" id="{DFD02B7B-9055-41BB-B918-CB0C3A8691EE}"/>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17</a:t>
            </a:r>
          </a:p>
        </p:txBody>
      </p:sp>
      <p:graphicFrame>
        <p:nvGraphicFramePr>
          <p:cNvPr id="3" name="">
            <a:extLst xmlns:a="http://schemas.openxmlformats.org/drawingml/2006/main">
              <a:ext uri="{FF2B5EF4-FFF2-40B4-BE49-F238E27FC236}">
                <a16:creationId xmlns:a16="http://schemas.microsoft.com/office/drawing/2014/main" id="{26804D77-BCB8-40F1-BE50-C762FCE8B15A}"/>
              </a:ext>
            </a:extLst>
          </p:cNvPr>
          <p:cNvGraphicFramePr/>
          <p:nvPr/>
        </p:nvGraphicFramePr>
        <p:xfrm>
          <a:off xmlns:a="http://schemas.openxmlformats.org/drawingml/2006/main" x="609600" y="1562100"/>
          <a:ext xmlns:a="http://schemas.openxmlformats.org/drawingml/2006/main" cx="10953750" cy="4381500"/>
        </p:xfrm>
        <a:graphic xmlns:a="http://schemas.openxmlformats.org/drawingml/2006/main">
          <a:graphicData uri="http://schemas.openxmlformats.org/drawingml/2006/table">
            <a:tbl>
              <a:tblPr/>
              <a:tblGrid>
                <a:gridCol w="3810000"/>
                <a:gridCol w="7143750"/>
              </a:tblGrid>
              <a:tr h="730250">
                <a:tc>
                  <a:txBody>
                    <a:bodyPr lIns="114300" tIns="114300" rIns="114300" bIns="114300"/>
                    <a:lstStyle/>
                    <a:p>
                      <a:r>
                        <a:rPr sz="1875" b="1">
                          <a:solidFill>
                            <a:srgbClr val="FFFFFF"/>
                          </a:solidFill>
                          <a:latin typeface="Arial"/>
                          <a:ea typeface="Arial"/>
                          <a:cs typeface="Arial"/>
                        </a:rPr>
                        <a:t>Câu hỏi</a:t>
                      </a:r>
                    </a:p>
                  </a:txBody>
                  <a:tcPr marL="91440" marR="91440" marT="45720" marB="45720" anchor="ctr">
                    <a:lnL w="9525">
                      <a:solidFill>
                        <a:srgbClr val="D5E0E7"/>
                      </a:solidFill>
                      <a:prstDash val="solid"/>
                    </a:lnL>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c>
                  <a:txBody>
                    <a:bodyPr lIns="114300" tIns="114300" rIns="114300" bIns="114300"/>
                    <a:lstStyle/>
                    <a:p>
                      <a:r>
                        <a:rPr sz="1875" b="1">
                          <a:solidFill>
                            <a:srgbClr val="FFFFFF"/>
                          </a:solidFill>
                          <a:latin typeface="Arial"/>
                          <a:ea typeface="Arial"/>
                          <a:cs typeface="Arial"/>
                        </a:rPr>
                        <a:t>Câu trả lời ngắn</a:t>
                      </a:r>
                    </a:p>
                  </a:txBody>
                  <a:tcPr marL="91440" marR="91440" marT="45720" marB="45720" anchor="ctr">
                    <a:lnR w="9525">
                      <a:solidFill>
                        <a:srgbClr val="D5E0E7"/>
                      </a:solidFill>
                      <a:prstDash val="solid"/>
                    </a:lnR>
                    <a:lnT w="9525">
                      <a:solidFill>
                        <a:srgbClr val="D5E0E7"/>
                      </a:solidFill>
                      <a:prstDash val="solid"/>
                    </a:lnT>
                    <a:lnB w="9525">
                      <a:solidFill>
                        <a:srgbClr val="D5E0E7"/>
                      </a:solidFill>
                      <a:prstDash val="solid"/>
                    </a:lnB>
                    <a:solidFill>
                      <a:srgbClr val="132D46"/>
                    </a:solidFill>
                  </a:tcPr>
                </a:tc>
              </a:tr>
              <a:tr h="730250">
                <a:tc>
                  <a:txBody>
                    <a:bodyPr lIns="114300" tIns="114300" rIns="114300" bIns="114300"/>
                    <a:lstStyle/>
                    <a:p>
                      <a:r>
                        <a:rPr sz="1875" b="0">
                          <a:solidFill>
                            <a:srgbClr val="132D46"/>
                          </a:solidFill>
                          <a:latin typeface="Arial"/>
                          <a:ea typeface="Arial"/>
                          <a:cs typeface="Arial"/>
                        </a:rPr>
                        <a:t>Nhiều request có đủ kiểm định?</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875" b="0">
                          <a:solidFill>
                            <a:srgbClr val="132D46"/>
                          </a:solidFill>
                          <a:latin typeface="Arial"/>
                          <a:ea typeface="Arial"/>
                          <a:cs typeface="Arial"/>
                        </a:rPr>
                        <a:t>Request cùng phiên có thể phụ thuộc. Đơn vị lặp là block.</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730250">
                <a:tc>
                  <a:txBody>
                    <a:bodyPr lIns="114300" tIns="114300" rIns="114300" bIns="114300"/>
                    <a:lstStyle/>
                    <a:p>
                      <a:r>
                        <a:rPr sz="1875" b="0">
                          <a:solidFill>
                            <a:srgbClr val="132D46"/>
                          </a:solidFill>
                          <a:latin typeface="Arial"/>
                          <a:ea typeface="Arial"/>
                          <a:cs typeface="Arial"/>
                        </a:rPr>
                        <a:t>100% đúng hạn nghĩa là chắc chắn?</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875" b="0">
                          <a:solidFill>
                            <a:srgbClr val="132D46"/>
                          </a:solidFill>
                          <a:latin typeface="Arial"/>
                          <a:ea typeface="Arial"/>
                          <a:cs typeface="Arial"/>
                        </a:rPr>
                        <a:t>100% trong cửa sổ đã đo.</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r h="730250">
                <a:tc>
                  <a:txBody>
                    <a:bodyPr lIns="114300" tIns="114300" rIns="114300" bIns="114300"/>
                    <a:lstStyle/>
                    <a:p>
                      <a:r>
                        <a:rPr sz="1875" b="0">
                          <a:solidFill>
                            <a:srgbClr val="132D46"/>
                          </a:solidFill>
                          <a:latin typeface="Arial"/>
                          <a:ea typeface="Arial"/>
                          <a:cs typeface="Arial"/>
                        </a:rPr>
                        <a:t>Little cần traffic Poisson?</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875" b="0">
                          <a:solidFill>
                            <a:srgbClr val="132D46"/>
                          </a:solidFill>
                          <a:latin typeface="Arial"/>
                          <a:ea typeface="Arial"/>
                          <a:cs typeface="Arial"/>
                        </a:rPr>
                        <a:t>Cohort hữu hạn đầy đủ không cần giả định Poisson.</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r h="730250">
                <a:tc>
                  <a:txBody>
                    <a:bodyPr lIns="114300" tIns="114300" rIns="114300" bIns="114300"/>
                    <a:lstStyle/>
                    <a:p>
                      <a:r>
                        <a:rPr sz="1875" b="0">
                          <a:solidFill>
                            <a:srgbClr val="132D46"/>
                          </a:solidFill>
                          <a:latin typeface="Arial"/>
                          <a:ea typeface="Arial"/>
                          <a:cs typeface="Arial"/>
                        </a:rPr>
                        <a:t>Đã chứng minh giới hạn TGW?</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2F6F8"/>
                    </a:solidFill>
                  </a:tcPr>
                </a:tc>
                <a:tc>
                  <a:txBody>
                    <a:bodyPr lIns="114300" tIns="114300" rIns="114300" bIns="114300"/>
                    <a:lstStyle/>
                    <a:p>
                      <a:r>
                        <a:rPr sz="1875" b="0">
                          <a:solidFill>
                            <a:srgbClr val="132D46"/>
                          </a:solidFill>
                          <a:latin typeface="Arial"/>
                          <a:ea typeface="Arial"/>
                          <a:cs typeface="Arial"/>
                        </a:rPr>
                        <a:t>Quan sát end-to-end và hàng đợi ứng dụng.</a:t>
                      </a:r>
                    </a:p>
                  </a:txBody>
                  <a:tcPr marL="91440" marR="91440" marT="45720" marB="45720" anchor="ctr">
                    <a:lnR w="9525">
                      <a:solidFill>
                        <a:srgbClr val="D5E0E7"/>
                      </a:solidFill>
                      <a:prstDash val="solid"/>
                    </a:lnR>
                    <a:lnB w="9525">
                      <a:solidFill>
                        <a:srgbClr val="D5E0E7"/>
                      </a:solidFill>
                      <a:prstDash val="solid"/>
                    </a:lnB>
                    <a:solidFill>
                      <a:srgbClr val="F2F6F8"/>
                    </a:solidFill>
                  </a:tcPr>
                </a:tc>
              </a:tr>
              <a:tr h="730250">
                <a:tc>
                  <a:txBody>
                    <a:bodyPr lIns="114300" tIns="114300" rIns="114300" bIns="114300"/>
                    <a:lstStyle/>
                    <a:p>
                      <a:r>
                        <a:rPr sz="1875" b="0">
                          <a:solidFill>
                            <a:srgbClr val="132D46"/>
                          </a:solidFill>
                          <a:latin typeface="Arial"/>
                          <a:ea typeface="Arial"/>
                          <a:cs typeface="Arial"/>
                        </a:rPr>
                        <a:t>Dashboard CPU trống?</a:t>
                      </a:r>
                    </a:p>
                  </a:txBody>
                  <a:tcPr marL="91440" marR="91440" marT="45720" marB="45720" anchor="ctr">
                    <a:lnL w="9525">
                      <a:solidFill>
                        <a:srgbClr val="D5E0E7"/>
                      </a:solidFill>
                      <a:prstDash val="solid"/>
                    </a:lnL>
                    <a:lnR w="9525">
                      <a:solidFill>
                        <a:srgbClr val="D5E0E7"/>
                      </a:solidFill>
                      <a:prstDash val="solid"/>
                    </a:lnR>
                    <a:lnB w="9525">
                      <a:solidFill>
                        <a:srgbClr val="D5E0E7"/>
                      </a:solidFill>
                      <a:prstDash val="solid"/>
                    </a:lnB>
                    <a:solidFill>
                      <a:srgbClr val="FFFFFF"/>
                    </a:solidFill>
                  </a:tcPr>
                </a:tc>
                <a:tc>
                  <a:txBody>
                    <a:bodyPr lIns="114300" tIns="114300" rIns="114300" bIns="114300"/>
                    <a:lstStyle/>
                    <a:p>
                      <a:r>
                        <a:rPr sz="1875" b="0">
                          <a:solidFill>
                            <a:srgbClr val="132D46"/>
                          </a:solidFill>
                          <a:latin typeface="Arial"/>
                          <a:ea typeface="Arial"/>
                          <a:cs typeface="Arial"/>
                        </a:rPr>
                        <a:t>Hostmetrics EC2 chưa bật. CPU từ mpstat.</a:t>
                      </a:r>
                    </a:p>
                  </a:txBody>
                  <a:tcPr marL="91440" marR="91440" marT="45720" marB="45720" anchor="ctr">
                    <a:lnR w="9525">
                      <a:solidFill>
                        <a:srgbClr val="D5E0E7"/>
                      </a:solidFill>
                      <a:prstDash val="solid"/>
                    </a:lnR>
                    <a:lnB w="9525">
                      <a:solidFill>
                        <a:srgbClr val="D5E0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D847901-B14B-445E-A086-911ABBEC9112}"/>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5 block RTT, 3 block ứng dụng. Kế hoạch xác nhận 16 block đã rút gọn vì ngân sách.</a:t>
            </a:r>
          </a:p>
        </p:txBody>
      </p:sp>
    </p:spTree>
    <p:extLst>
      <p:ext uri="{BB962C8B-B14F-4D97-AF65-F5344CB8AC3E}">
        <p14:creationId xmlns:p14="http://schemas.microsoft.com/office/powerpoint/2010/main" val="17384185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D1BB97-10FA-4867-9555-938806F01322}"/>
              </a:ext>
            </a:extLst>
          </p:cNvPr>
          <p:cNvSpPr>
            <a:spLocks xmlns:a="http://schemas.openxmlformats.org/drawingml/2006/main" noGrp="1"/>
          </p:cNvSpPr>
          <p:nvPr/>
        </p:nvSpPr>
        <p:spPr>
          <a:xfrm xmlns:a="http://schemas.openxmlformats.org/drawingml/2006/main">
            <a:off x="609600" y="419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32D46"/>
                </a:solidFill>
                <a:latin typeface="Arial"/>
                <a:ea typeface="Arial"/>
                <a:cs typeface="Arial"/>
              </a:defRPr>
            </a:defPPr>
          </a:lstStyle>
          <a:p xmlns:a="http://schemas.openxmlformats.org/drawingml/2006/main">
            <a:pPr algn="l">
              <a:defRPr sz="3150" b="1">
                <a:solidFill>
                  <a:srgbClr val="132D46"/>
                </a:solidFill>
                <a:latin typeface="Arial"/>
                <a:ea typeface="Arial"/>
                <a:cs typeface="Arial"/>
              </a:defRPr>
            </a:pPr>
            <a:r>
              <a:rPr sz="3150" b="1">
                <a:solidFill>
                  <a:srgbClr val="132D46"/>
                </a:solidFill>
                <a:latin typeface="Arial"/>
                <a:ea typeface="Arial"/>
                <a:cs typeface="Arial"/>
              </a:rPr>
              <a:t>Phụ lục · Nguồn và liên hệ bài giảng</a:t>
            </a:r>
          </a:p>
        </p:txBody>
      </p:sp>
      <p:sp>
        <p:nvSpPr>
          <p:cNvPr id="2" name="">
            <a:extLst xmlns:a="http://schemas.openxmlformats.org/drawingml/2006/main">
              <a:ext uri="{FF2B5EF4-FFF2-40B4-BE49-F238E27FC236}">
                <a16:creationId xmlns:a16="http://schemas.microsoft.com/office/drawing/2014/main" id="{9BAF86C8-FFFA-46C9-8EE1-E7B8C7746817}"/>
              </a:ext>
            </a:extLst>
          </p:cNvPr>
          <p:cNvSpPr>
            <a:spLocks xmlns:a="http://schemas.openxmlformats.org/drawingml/2006/main" noGrp="1"/>
          </p:cNvSpPr>
          <p:nvPr/>
        </p:nvSpPr>
        <p:spPr>
          <a:xfrm xmlns:a="http://schemas.openxmlformats.org/drawingml/2006/main">
            <a:off x="11191875" y="642937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4F6171"/>
                </a:solidFill>
                <a:latin typeface="Arial"/>
                <a:ea typeface="Arial"/>
                <a:cs typeface="Arial"/>
              </a:defRPr>
            </a:defPPr>
          </a:lstStyle>
          <a:p xmlns:a="http://schemas.openxmlformats.org/drawingml/2006/main">
            <a:pPr algn="r">
              <a:defRPr sz="1350" b="0">
                <a:solidFill>
                  <a:srgbClr val="4F6171"/>
                </a:solidFill>
                <a:latin typeface="Arial"/>
                <a:ea typeface="Arial"/>
                <a:cs typeface="Arial"/>
              </a:defRPr>
            </a:pPr>
            <a:r>
              <a:rPr sz="1350" b="0">
                <a:solidFill>
                  <a:srgbClr val="4F6171"/>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B43D70BD-0280-4620-908E-036A8DF619FD}"/>
              </a:ext>
            </a:extLst>
          </p:cNvPr>
          <p:cNvSpPr>
            <a:spLocks xmlns:a="http://schemas.openxmlformats.org/drawingml/2006/main" noGrp="1"/>
          </p:cNvSpPr>
          <p:nvPr/>
        </p:nvSpPr>
        <p:spPr>
          <a:xfrm xmlns:a="http://schemas.openxmlformats.org/drawingml/2006/main">
            <a:off x="609600" y="15049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837D"/>
                </a:solidFill>
                <a:latin typeface="Arial"/>
                <a:ea typeface="Arial"/>
                <a:cs typeface="Arial"/>
              </a:defRPr>
            </a:defPPr>
          </a:lstStyle>
          <a:p xmlns:a="http://schemas.openxmlformats.org/drawingml/2006/main">
            <a:pPr algn="l">
              <a:defRPr sz="2400" b="1">
                <a:solidFill>
                  <a:srgbClr val="00837D"/>
                </a:solidFill>
                <a:latin typeface="Arial"/>
                <a:ea typeface="Arial"/>
                <a:cs typeface="Arial"/>
              </a:defRPr>
            </a:pPr>
            <a:r>
              <a:rPr sz="2400" b="1">
                <a:solidFill>
                  <a:srgbClr val="00837D"/>
                </a:solidFill>
                <a:latin typeface="Arial"/>
                <a:ea typeface="Arial"/>
                <a:cs typeface="Arial"/>
              </a:rPr>
              <a:t>Bài giảng NT531</a:t>
            </a:r>
          </a:p>
        </p:txBody>
      </p:sp>
      <p:sp>
        <p:nvSpPr>
          <p:cNvPr id="4" name="">
            <a:extLst xmlns:a="http://schemas.openxmlformats.org/drawingml/2006/main">
              <a:ext uri="{FF2B5EF4-FFF2-40B4-BE49-F238E27FC236}">
                <a16:creationId xmlns:a16="http://schemas.microsoft.com/office/drawing/2014/main" id="{BB3D875E-5712-4B34-A697-C3D815BF541E}"/>
              </a:ext>
            </a:extLst>
          </p:cNvPr>
          <p:cNvSpPr>
            <a:spLocks xmlns:a="http://schemas.openxmlformats.org/drawingml/2006/main" noGrp="1"/>
          </p:cNvSpPr>
          <p:nvPr/>
        </p:nvSpPr>
        <p:spPr>
          <a:xfrm xmlns:a="http://schemas.openxmlformats.org/drawingml/2006/main">
            <a:off x="609600" y="2085975"/>
            <a:ext cx="10763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32D46"/>
                </a:solidFill>
                <a:latin typeface="Arial"/>
                <a:ea typeface="Arial"/>
                <a:cs typeface="Arial"/>
              </a:defRPr>
            </a:defPPr>
          </a:lstStyle>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Arrival Processes and Queuing Systems</a:t>
            </a:r>
          </a:p>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Trang PDF 3, 62–66: tải danh nghĩa, Little và concurrency.</a:t>
            </a:r>
          </a:p>
          <a:p xmlns:a="http://schemas.openxmlformats.org/drawingml/2006/main">
            <a:r>
              <a:t/>
            </a:r>
          </a:p>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Internet Performance, QoS and Cloud-Native Metrics</a:t>
            </a:r>
          </a:p>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Trang PDF 4, 26, 31, 34, 39, 41–42: RTT, SLI, trace, phân vị.</a:t>
            </a:r>
          </a:p>
        </p:txBody>
      </p:sp>
      <p:sp>
        <p:nvSpPr>
          <p:cNvPr id="5" name="">
            <a:extLst xmlns:a="http://schemas.openxmlformats.org/drawingml/2006/main">
              <a:ext uri="{FF2B5EF4-FFF2-40B4-BE49-F238E27FC236}">
                <a16:creationId xmlns:a16="http://schemas.microsoft.com/office/drawing/2014/main" id="{AA87B89C-718A-47A3-BA05-7A5489C97E39}"/>
              </a:ext>
            </a:extLst>
          </p:cNvPr>
          <p:cNvSpPr>
            <a:spLocks xmlns:a="http://schemas.openxmlformats.org/drawingml/2006/main" noGrp="1"/>
          </p:cNvSpPr>
          <p:nvPr/>
        </p:nvSpPr>
        <p:spPr>
          <a:xfrm xmlns:a="http://schemas.openxmlformats.org/drawingml/2006/main">
            <a:off x="609600" y="44958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837D"/>
                </a:solidFill>
                <a:latin typeface="Arial"/>
                <a:ea typeface="Arial"/>
                <a:cs typeface="Arial"/>
              </a:defRPr>
            </a:defPPr>
          </a:lstStyle>
          <a:p xmlns:a="http://schemas.openxmlformats.org/drawingml/2006/main">
            <a:pPr algn="l">
              <a:defRPr sz="2400" b="1">
                <a:solidFill>
                  <a:srgbClr val="00837D"/>
                </a:solidFill>
                <a:latin typeface="Arial"/>
                <a:ea typeface="Arial"/>
                <a:cs typeface="Arial"/>
              </a:defRPr>
            </a:pPr>
            <a:r>
              <a:rPr sz="2400" b="1">
                <a:solidFill>
                  <a:srgbClr val="00837D"/>
                </a:solidFill>
                <a:latin typeface="Arial"/>
                <a:ea typeface="Arial"/>
                <a:cs typeface="Arial"/>
              </a:rPr>
              <a:t>Tài liệu AWS và dữ liệu nhóm</a:t>
            </a:r>
          </a:p>
        </p:txBody>
      </p:sp>
      <p:sp>
        <p:nvSpPr>
          <p:cNvPr id="6" name="">
            <a:extLst xmlns:a="http://schemas.openxmlformats.org/drawingml/2006/main">
              <a:ext uri="{FF2B5EF4-FFF2-40B4-BE49-F238E27FC236}">
                <a16:creationId xmlns:a16="http://schemas.microsoft.com/office/drawing/2014/main" id="{82273DC5-9DF6-4141-86F9-F2CF1C60B776}"/>
              </a:ext>
            </a:extLst>
          </p:cNvPr>
          <p:cNvSpPr>
            <a:spLocks xmlns:a="http://schemas.openxmlformats.org/drawingml/2006/main" noGrp="1"/>
          </p:cNvSpPr>
          <p:nvPr/>
        </p:nvSpPr>
        <p:spPr>
          <a:xfrm xmlns:a="http://schemas.openxmlformats.org/drawingml/2006/main">
            <a:off x="609600" y="50673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32D46"/>
                </a:solidFill>
                <a:latin typeface="Arial"/>
                <a:ea typeface="Arial"/>
                <a:cs typeface="Arial"/>
              </a:defRPr>
            </a:defPPr>
          </a:lstStyle>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AWS VPC Peering, AWS Transit Gateway (tài liệu chính thức).</a:t>
            </a:r>
          </a:p>
          <a:p xmlns:a="http://schemas.openxmlformats.org/drawingml/2006/main">
            <a:pPr algn="l">
              <a:defRPr sz="2025" b="0">
                <a:solidFill>
                  <a:srgbClr val="132D46"/>
                </a:solidFill>
                <a:latin typeface="Arial"/>
                <a:ea typeface="Arial"/>
                <a:cs typeface="Arial"/>
              </a:defRPr>
            </a:pPr>
            <a:r>
              <a:rPr sz="2025" b="0">
                <a:solidFill>
                  <a:srgbClr val="132D46"/>
                </a:solidFill>
                <a:latin typeface="Arial"/>
                <a:ea typeface="Arial"/>
                <a:cs typeface="Arial"/>
              </a:rPr>
              <a:t>Repository: raw, protocols, analysis, queue audit và hướng dẫn demo.</a:t>
            </a:r>
          </a:p>
        </p:txBody>
      </p:sp>
      <p:sp>
        <p:nvSpPr>
          <p:cNvPr id="7" name="">
            <a:extLst xmlns:a="http://schemas.openxmlformats.org/drawingml/2006/main">
              <a:ext uri="{FF2B5EF4-FFF2-40B4-BE49-F238E27FC236}">
                <a16:creationId xmlns:a16="http://schemas.microsoft.com/office/drawing/2014/main" id="{773B6077-6333-4B85-A586-3C3BCA9CB6ED}"/>
              </a:ext>
            </a:extLst>
          </p:cNvPr>
          <p:cNvSpPr>
            <a:spLocks xmlns:a="http://schemas.openxmlformats.org/drawingml/2006/main" noGrp="1"/>
          </p:cNvSpPr>
          <p:nvPr/>
        </p:nvSpPr>
        <p:spPr>
          <a:xfrm xmlns:a="http://schemas.openxmlformats.org/drawingml/2006/main">
            <a:off x="609600" y="6238875"/>
            <a:ext cx="1028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4F6171"/>
                </a:solidFill>
                <a:latin typeface="Arial"/>
                <a:ea typeface="Arial"/>
                <a:cs typeface="Arial"/>
              </a:defRPr>
            </a:defPPr>
          </a:lstStyle>
          <a:p xmlns:a="http://schemas.openxmlformats.org/drawingml/2006/main">
            <a:pPr algn="l">
              <a:defRPr sz="1275" b="0">
                <a:solidFill>
                  <a:srgbClr val="4F6171"/>
                </a:solidFill>
                <a:latin typeface="Arial"/>
                <a:ea typeface="Arial"/>
                <a:cs typeface="Arial"/>
              </a:defRPr>
            </a:pPr>
            <a:r>
              <a:rPr sz="1275" b="0">
                <a:solidFill>
                  <a:srgbClr val="4F6171"/>
                </a:solidFill>
                <a:latin typeface="Arial"/>
                <a:ea typeface="Arial"/>
                <a:cs typeface="Arial"/>
              </a:rPr>
              <a:t>URL và đường dẫn nguồn trong Notes từng slide. Nhóm khai AI Usage và phân công theo thực tế.</a:t>
            </a:r>
          </a:p>
        </p:txBody>
      </p:sp>
    </p:spTree>
    <p:extLst>
      <p:ext uri="{BB962C8B-B14F-4D97-AF65-F5344CB8AC3E}">
        <p14:creationId xmlns:p14="http://schemas.microsoft.com/office/powerpoint/2010/main" val="8295985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2026-10-13T12:49:26.5510000Z</dcterms:created>
  <dcterms:modified xsi:type="dcterms:W3CDTF">2026-10-13T12:49:26.5520000Z</dcterms:modified>
</coreProperties>
</file>